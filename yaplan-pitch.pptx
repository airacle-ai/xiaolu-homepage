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产品画布  ·  Lean Canvas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产品画布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01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966960" y="228600"/>
            <a:ext cx="2011680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66960" y="320040"/>
            <a:ext cx="2011680" cy="27432"/>
          </a:xfrm>
          <a:prstGeom prst="rect">
            <a:avLst/>
          </a:prstGeom>
          <a:solidFill>
            <a:srgbClr val="E74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66960" y="411480"/>
            <a:ext cx="2011680" cy="27432"/>
          </a:xfrm>
          <a:prstGeom prst="rect">
            <a:avLst/>
          </a:prstGeom>
          <a:solidFill>
            <a:srgbClr val="EC7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66960" y="502920"/>
            <a:ext cx="2011680" cy="27432"/>
          </a:xfrm>
          <a:prstGeom prst="rect">
            <a:avLst/>
          </a:prstGeom>
          <a:solidFill>
            <a:srgbClr val="F199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66960" y="594360"/>
            <a:ext cx="2011680" cy="27432"/>
          </a:xfrm>
          <a:prstGeom prst="rect">
            <a:avLst/>
          </a:prstGeom>
          <a:solidFill>
            <a:srgbClr val="F6C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234440"/>
            <a:ext cx="36118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234440"/>
            <a:ext cx="3611880" cy="34747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1325880"/>
            <a:ext cx="3374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  <a:latin typeface="微软雅黑"/>
              </a:rPr>
              <a:t>🎯  问题与痛点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1691640"/>
            <a:ext cx="3374136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1764792"/>
            <a:ext cx="337413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• ① 教育支出焦虑，缺乏整体规划框架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② 保险配置混乱，面对销售话术无从判断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③ 焦虑型课外消费泛滥，38% 属情绪驱动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④ 零花钱给了，却不知如何引导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234440"/>
            <a:ext cx="14630" cy="5120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234440"/>
            <a:ext cx="36118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611880" cy="34747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325880"/>
            <a:ext cx="3374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231A"/>
                </a:solidFill>
                <a:latin typeface="微软雅黑"/>
              </a:rPr>
              <a:t>💡  解决方案（攒·保·理·教）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2544" y="1691640"/>
            <a:ext cx="3374136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764792"/>
            <a:ext cx="337413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• 攒  AI双情景教育金测算与定投计划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保  保单OCR解读，非销售保险配置建议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理  多模态记账+焦虑消费3层检测+冷静期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教  三罐子零花钱+劳动奖励+财商小课堂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36408" y="1234440"/>
            <a:ext cx="14630" cy="512064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1" y="1234440"/>
            <a:ext cx="361188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1234440"/>
            <a:ext cx="3611880" cy="34747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325880"/>
            <a:ext cx="3374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9C65"/>
                </a:solidFill>
                <a:latin typeface="微软雅黑"/>
              </a:rPr>
              <a:t>✦  独特价值主张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56448" y="1691640"/>
            <a:ext cx="3374136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3" y="1764792"/>
            <a:ext cx="3374136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• "第一个对你说「不」的财务顾问"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纯规划、不销售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焦虑消费识别（行业首创）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生活化比喻翻译金融术语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• 0–18 岁全周期陪伴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382512"/>
            <a:ext cx="361188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6382512"/>
            <a:ext cx="36576" cy="3657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" y="64008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用户  0–18 岁子女城市中产家庭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6382512"/>
            <a:ext cx="361188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24528" y="6382512"/>
            <a:ext cx="36576" cy="36576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64008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商业模式  Freemium  ¥99–199 / 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28431" y="6382512"/>
            <a:ext cx="3611880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28431" y="6382512"/>
            <a:ext cx="36576" cy="365760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59" y="6400800"/>
            <a:ext cx="3429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技术  Claude API · 多模态OCR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用户需求分析  ·  三阶段家庭画像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用户研究  01/03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02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3611880" cy="4572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216152"/>
            <a:ext cx="34015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新生期  0–3岁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64208"/>
            <a:ext cx="3611880" cy="4626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737360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25–35岁双职工，月入 1.5–4 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2066543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微软雅黑"/>
              </a:rPr>
              <a:t>核心痛点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2432304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→  早教课值不值？被销售话术困扰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保险该买哪些？配置从何判断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教育金何时开始、怎么存最科学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" y="4160520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2245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微软雅黑"/>
              </a:rPr>
              <a:t>月均教育支出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49884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7A87"/>
                </a:solidFill>
                <a:latin typeface="微软雅黑"/>
              </a:rPr>
              <a:t>¥3,200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207008"/>
            <a:ext cx="14630" cy="5084064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207008"/>
            <a:ext cx="3611880" cy="4572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1216152"/>
            <a:ext cx="34015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成长期  4–12岁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24528" y="1664208"/>
            <a:ext cx="3611880" cy="4626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737360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30–42岁中产，月入 2.5–8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2066543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2139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微软雅黑"/>
              </a:rPr>
              <a:t>核心痛点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432304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→  课外班军备竞赛，月花 8,000+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教育金储备进度严重滞后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同伴压力导致盲目跟风报班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2544" y="4160520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42245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微软雅黑"/>
              </a:rPr>
              <a:t>月均教育支出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49884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231A"/>
                </a:solidFill>
                <a:latin typeface="微软雅黑"/>
              </a:rPr>
              <a:t>¥6,800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6408" y="1207008"/>
            <a:ext cx="14630" cy="5084064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8431" y="1207008"/>
            <a:ext cx="3611880" cy="457200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59" y="1216152"/>
            <a:ext cx="340156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</a:rPr>
              <a:t>冲刺期  13–18岁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8431" y="1664208"/>
            <a:ext cx="3611880" cy="4626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3023" y="1737360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40–52岁，月入 4–12 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56448" y="2066543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023" y="2139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微软雅黑"/>
              </a:rPr>
              <a:t>核心痛点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3023" y="2432304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→  出国 vs 国内？200–500 万差距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留学费用无独立测算工具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→  资产不动产化，流动性不足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56448" y="4160520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93023" y="42245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  <a:latin typeface="微软雅黑"/>
              </a:rPr>
              <a:t>月均教育支出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3023" y="449884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48B00"/>
                </a:solidFill>
                <a:latin typeface="微软雅黑"/>
              </a:rPr>
              <a:t>¥12,400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用户需求分析  ·  焦虑型消费识别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用户研究  02/03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03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37947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794760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298448"/>
            <a:ext cx="3657600" cy="744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231A"/>
                </a:solidFill>
                <a:latin typeface="微软雅黑"/>
              </a:rPr>
              <a:t>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19377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2181392"/>
            <a:ext cx="3657600" cy="351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育儿支出属焦虑驱动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1207008"/>
            <a:ext cx="37947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207008"/>
            <a:ext cx="3794760" cy="27432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298448"/>
            <a:ext cx="3657600" cy="744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48B00"/>
                </a:solidFill>
                <a:latin typeface="微软雅黑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9377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181392"/>
            <a:ext cx="3657600" cy="351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报名后曾后悔的课程占比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1207008"/>
            <a:ext cx="37947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207008"/>
            <a:ext cx="3794760" cy="27432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98448"/>
            <a:ext cx="3657600" cy="744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D9C65"/>
                </a:solidFill>
                <a:latin typeface="微软雅黑"/>
              </a:rPr>
              <a:t>2,100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9377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元/月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181392"/>
            <a:ext cx="3657600" cy="351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芽计用户月均识别的焦虑消费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724912"/>
            <a:ext cx="11365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816352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82549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❌  焦虑驱动型消费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118104"/>
            <a:ext cx="530352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163824"/>
            <a:ext cx="5303520" cy="3127248"/>
          </a:xfrm>
          <a:prstGeom prst="rect">
            <a:avLst/>
          </a:prstGeom>
          <a:solidFill>
            <a:srgbClr val="FF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3163824"/>
            <a:ext cx="36576" cy="312724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55264"/>
            <a:ext cx="504748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•  看到 KOL 推荐，冲动下单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听说别人家孩子都在学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周末深夜突击报班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无 ROI 评估，跟风即买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孩子不感兴趣，仍续费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15584" y="3163824"/>
            <a:ext cx="713232" cy="312724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15584" y="3401568"/>
            <a:ext cx="7132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芽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计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识</a:t>
            </a:r>
            <a:br/>
            <a:r>
              <a:rPr sz="1300" b="1" i="0">
                <a:solidFill>
                  <a:srgbClr val="FFFFFF"/>
                </a:solidFill>
                <a:latin typeface="微软雅黑"/>
              </a:rPr>
              <a:t>别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0256" y="2816352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11696" y="28254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✅  理性规划型消费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0256" y="3118104"/>
            <a:ext cx="516636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20256" y="3163824"/>
            <a:ext cx="5157216" cy="3127248"/>
          </a:xfrm>
          <a:prstGeom prst="rect">
            <a:avLst/>
          </a:prstGeom>
          <a:solidFill>
            <a:srgbClr val="F4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20256" y="3163824"/>
            <a:ext cx="36576" cy="3127248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3255264"/>
            <a:ext cx="4901184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D4D4D"/>
                </a:solidFill>
                <a:latin typeface="微软雅黑"/>
              </a:rPr>
              <a:t>•  基于孩子兴趣和意愿决策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有明确学习目标和退出机制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评估性价比后理性决定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定期复盘课程出勤与效果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4D4D4D"/>
                </a:solidFill>
                <a:latin typeface="微软雅黑"/>
              </a:rPr>
              <a:t>•  纳入家庭月度预算管控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4008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  <a:latin typeface="微软雅黑"/>
              </a:rPr>
              <a:t>芽计通过  行为信号  ×  NLP语义情绪  ×  综合评分  三层机制，在消费决策前给出理性提醒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用户需求分析  ·  市场规模与机会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用户研究  03/03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04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7406640" cy="5193792"/>
          </a:xfrm>
          <a:prstGeom prst="rect">
            <a:avLst/>
          </a:prstGeom>
          <a:solidFill>
            <a:srgbClr val="F0F4FF"/>
          </a:solidFill>
          <a:ln w="1016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16736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  <a:latin typeface="微软雅黑"/>
              </a:rPr>
              <a:t>TAM  总市场：2.1 亿有子女家庭  /  潜在规模 ¥6,300 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737360"/>
            <a:ext cx="6400800" cy="4133087"/>
          </a:xfrm>
          <a:prstGeom prst="rect">
            <a:avLst/>
          </a:prstGeom>
          <a:solidFill>
            <a:srgbClr val="FFF5F4"/>
          </a:solidFill>
          <a:ln w="10160">
            <a:solidFill>
              <a:srgbClr val="E223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847088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231A"/>
                </a:solidFill>
                <a:latin typeface="微软雅黑"/>
              </a:rPr>
              <a:t>SAM  可触达：4,200 万城市中产家庭  /  ¥1,260 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54480" y="2331720"/>
            <a:ext cx="5120640" cy="2944368"/>
          </a:xfrm>
          <a:prstGeom prst="rect">
            <a:avLst/>
          </a:prstGeom>
          <a:solidFill>
            <a:srgbClr val="F4FBF6"/>
          </a:solidFill>
          <a:ln w="10160">
            <a:solidFill>
              <a:srgbClr val="2D9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44144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9C65"/>
                </a:solidFill>
                <a:latin typeface="微软雅黑"/>
              </a:rPr>
              <a:t>SOM  3年目标：210 万家庭  /  ¥6.3 亿 ARR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36992" y="1207008"/>
            <a:ext cx="4114800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36992" y="2505456"/>
            <a:ext cx="41148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9" y="1371600"/>
            <a:ext cx="3977639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2231A"/>
                </a:solidFill>
                <a:latin typeface="微软雅黑"/>
              </a:rPr>
              <a:t>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1922068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9" y="2136038"/>
            <a:ext cx="3977639" cy="309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受访家长缺乏系统财务规划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3803904"/>
            <a:ext cx="41148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9" y="2670048"/>
            <a:ext cx="3977639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7A87"/>
                </a:solidFill>
                <a:latin typeface="微软雅黑"/>
              </a:rPr>
              <a:t>3.2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9" y="3220516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万元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3434486"/>
            <a:ext cx="3977639" cy="309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城市家庭年均课外教育支出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36992" y="5102352"/>
            <a:ext cx="41148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9" y="3968496"/>
            <a:ext cx="3977639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D9C65"/>
                </a:solidFill>
                <a:latin typeface="微软雅黑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518964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9" y="4732934"/>
            <a:ext cx="3977639" cy="309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愿为精准规划付费的家长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5266944"/>
            <a:ext cx="3977639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48B00"/>
                </a:solidFill>
                <a:latin typeface="微软雅黑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817412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6031382"/>
            <a:ext cx="3977639" cy="309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单用户周期  ·  LTV ≈ ¥3,582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微软雅黑"/>
              </a:rPr>
              <a:t>数据来源：艾瑞咨询 2025  /  国家统计局  /  CFPS 家庭追踪调查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产品方案  ·  攒·保·理·教  四模块定位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01/07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05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11365992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6576" cy="36576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21615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微软雅黑"/>
              </a:rPr>
              <a:t>所有功能通过对话式 AI 串联  ·  角色定位：🏥 家庭财务医生（客观专业）× 👩‍🎓 成长陪伴学姐（温暖懂孩子）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91640"/>
            <a:ext cx="5742432" cy="232257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691640"/>
            <a:ext cx="5742432" cy="292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178308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📈  攒  ·  教育金规划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" y="2112264"/>
            <a:ext cx="550468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67128"/>
            <a:ext cx="5486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PMT 公式精准测算教育金缺口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双情景：国内 ¥45 万  /  出国 ¥120 万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开学季动态校准，每年复盘调整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比喻：¥36 万缺口 = 360 次家庭大餐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691640"/>
            <a:ext cx="5742432" cy="232257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1691640"/>
            <a:ext cx="5742432" cy="2926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78308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🛡️  保  ·  保险配置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9088" y="2112264"/>
            <a:ext cx="550468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167128"/>
            <a:ext cx="5486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保单 OCR 解读关键条款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先大人后小孩配置优先级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非销售承诺，只分析不导流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通俗险种比喻库，拒绝行话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160520"/>
            <a:ext cx="5742432" cy="232257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160520"/>
            <a:ext cx="5742432" cy="29260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4251959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💸  理  ·  支出管理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" y="4581144"/>
            <a:ext cx="550468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636008"/>
            <a:ext cx="5486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拍票据 / 截图 / 语音多模态记账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3 层焦虑消费检测引擎（行业首创）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24 h 购物车冷静期机制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兴趣班 ROI 热力表可视化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160520"/>
            <a:ext cx="5742432" cy="232257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4160520"/>
            <a:ext cx="5742432" cy="29260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5664" y="4251959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💰  教  ·  财商教育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19088" y="4581144"/>
            <a:ext cx="550468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4636008"/>
            <a:ext cx="548640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D4D4D"/>
                </a:solidFill>
                <a:latin typeface="微软雅黑"/>
              </a:rPr>
              <a:t>三罐子零花钱模型（自由/储蓄/分享）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义务家务 vs 额外任务劳动机制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AI 发零花钱时推送财商故事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4D4D4D"/>
                </a:solidFill>
                <a:latin typeface="微软雅黑"/>
              </a:rPr>
              <a:t>月度宝贝成长报告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产品方案  ·  差异化定位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02/07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06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207008"/>
          <a:ext cx="10158984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2743200"/>
                <a:gridCol w="1664208"/>
                <a:gridCol w="1664208"/>
                <a:gridCol w="1664208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功能维度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芽计  YaPlan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挖财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支付宝财富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Greenlight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焦虑消费识别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行业首创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保单 OCR 解读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通俗解析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非销售导向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无返佣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❌  有广告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❌  有佣金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D9C65"/>
                          </a:solidFill>
                          <a:latin typeface="微软雅黑"/>
                        </a:rPr>
                        <a:t>✅  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教育金测算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双情景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弱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弱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亲子财商教育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三罐子+绘本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D9C65"/>
                          </a:solidFill>
                          <a:latin typeface="微软雅黑"/>
                        </a:rPr>
                        <a:t>✅  基础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微软雅黑"/>
                        </a:rPr>
                        <a:t>生活化比喻库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2231A"/>
                          </a:solidFill>
                          <a:latin typeface="微软雅黑"/>
                        </a:rPr>
                        <a:t>✅  内置系统</a:t>
                      </a:r>
                    </a:p>
                  </a:txBody>
                  <a:tcPr>
                    <a:solidFill>
                      <a:srgbClr val="FFF5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888888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193792"/>
            <a:ext cx="11365992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5321808"/>
            <a:ext cx="3794760" cy="96926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53766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🧠  焦虑识别引擎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57607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行业首创  ·  三层检测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5321808"/>
            <a:ext cx="3794760" cy="969264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53766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📊  非销售导向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57607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信任经济壁垒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57031" y="5321808"/>
            <a:ext cx="3794760" cy="969264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53766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💬  金融语言翻译器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57607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微软雅黑"/>
              </a:rPr>
              <a:t>术语  →  生活比喻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产品方案  ·  AI 能力运用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03/07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07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11365992" cy="38404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6576" cy="38404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21615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微软雅黑"/>
              </a:rPr>
              <a:t>AI 双重角色：🏥 家庭财务医生（客观、专业、不卖东西）  ×  👩‍🎓 成长陪伴学姐（温暖、真实、懂孩子）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742432" cy="7680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737360"/>
            <a:ext cx="36576" cy="7680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938528"/>
            <a:ext cx="347472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1938528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810512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对话采集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13969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微软雅黑"/>
              </a:rPr>
              <a:t>自然语言问答，采集家庭基本信息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" y="2505456"/>
            <a:ext cx="14630" cy="14630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633472"/>
            <a:ext cx="5742432" cy="7680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633472"/>
            <a:ext cx="36576" cy="76809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834640"/>
            <a:ext cx="347472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2834640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70662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需求挖掘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03580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微软雅黑"/>
              </a:rPr>
              <a:t>识别显性需求与隐性焦虑来源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" y="3401568"/>
            <a:ext cx="14630" cy="14630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529584"/>
            <a:ext cx="5742432" cy="7680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529584"/>
            <a:ext cx="36576" cy="768096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30752"/>
            <a:ext cx="347472" cy="347472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3075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602736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方案生成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93192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微软雅黑"/>
              </a:rPr>
              <a:t>PMT 计算 + 双情景 + 生活化比喻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" y="4297680"/>
            <a:ext cx="14630" cy="146304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4425696"/>
            <a:ext cx="5742432" cy="7680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425696"/>
            <a:ext cx="36576" cy="768096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626864"/>
            <a:ext cx="347472" cy="34747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4626864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498848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焦虑检测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828032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微软雅黑"/>
              </a:rPr>
              <a:t>行为信号 + NLP语义 + 综合评分三层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" y="5193792"/>
            <a:ext cx="14630" cy="146304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5321808"/>
            <a:ext cx="5742432" cy="7680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5321808"/>
            <a:ext cx="36576" cy="768096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522976"/>
            <a:ext cx="347472" cy="347472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522976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394960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动态复盘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724144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微软雅黑"/>
              </a:rPr>
              <a:t>月度小报 + 季度报告 + 年度校准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1737360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82512" y="174650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多模态输入能力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91072" y="2039112"/>
            <a:ext cx="566928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91072" y="2084831"/>
            <a:ext cx="1810512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91072" y="2084831"/>
            <a:ext cx="1810512" cy="25603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82512" y="21579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微软雅黑"/>
              </a:rPr>
              <a:t>📸  拍票据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OCR 自动归类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74736" y="2084831"/>
            <a:ext cx="1810512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174736" y="2084831"/>
            <a:ext cx="1810512" cy="25603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6175" y="21579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微软雅黑"/>
              </a:rPr>
              <a:t>🎙  语音记账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5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自然语言录入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2084831"/>
            <a:ext cx="1810512" cy="1261872"/>
          </a:xfrm>
          <a:prstGeom prst="rect">
            <a:avLst/>
          </a:prstGeom>
          <a:solidFill>
            <a:srgbClr val="FFFFFF"/>
          </a:solidFill>
          <a:ln w="762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58400" y="2084831"/>
            <a:ext cx="1810512" cy="25603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49840" y="21579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微软雅黑"/>
              </a:rPr>
              <a:t>📄  截图保单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微软雅黑"/>
              </a:rPr>
              <a:t>AI 提取条款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91072" y="3474720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82512" y="3483863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对话示例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91072" y="3776472"/>
            <a:ext cx="566928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91072" y="3822191"/>
            <a:ext cx="5669280" cy="120700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3822191"/>
            <a:ext cx="36576" cy="1207008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3913632"/>
            <a:ext cx="53949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254D"/>
                </a:solidFill>
                <a:latin typeface="微软雅黑"/>
              </a:rPr>
              <a:t>用户：「5 岁女儿，想出国，月入 3–5 万」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8254D"/>
                </a:solidFill>
                <a:latin typeface="微软雅黑"/>
              </a:rPr>
              <a:t>→  芽计：「目标 ¥120 万，月投 ¥4,900，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8254D"/>
                </a:solidFill>
                <a:latin typeface="微软雅黑"/>
              </a:rPr>
              <a:t>    相当于每天少一杯奶茶 + 咖啡 ☕」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91072" y="5175504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82512" y="51846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焦虑检测三层引擎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91072" y="5477256"/>
            <a:ext cx="566928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91072" y="5522976"/>
            <a:ext cx="5669280" cy="731520"/>
          </a:xfrm>
          <a:prstGeom prst="rect">
            <a:avLst/>
          </a:prstGeom>
          <a:solidFill>
            <a:srgbClr val="FF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5522976"/>
            <a:ext cx="36576" cy="73152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5614416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微软雅黑"/>
              </a:rPr>
              <a:t>Layer 1  行为信号  →  Layer 2  NLP语义情绪  →  Layer 3  综合风险评分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91072" y="6400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  <a:latin typeface="微软雅黑"/>
              </a:rPr>
              <a:t>底层：Claude API  ·  多模态 OCR  ·  规则引擎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产品方案  ·  商业模式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04/07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08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07008"/>
            <a:ext cx="361188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611880" cy="51206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280160"/>
            <a:ext cx="3401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免费版  Free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" y="1755648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184708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基础教育金测算（单情景）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39572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AI 规划对话  3 次 /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294436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支出分类记录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49300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焦虑消费基础识别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207008"/>
            <a:ext cx="3611880" cy="3931920"/>
          </a:xfrm>
          <a:prstGeom prst="rect">
            <a:avLst/>
          </a:prstGeom>
          <a:noFill/>
          <a:ln w="762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24528" y="1097280"/>
            <a:ext cx="3611880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097280"/>
            <a:ext cx="3611880" cy="512064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4256" y="1170432"/>
            <a:ext cx="3401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标准版  ¥99 / 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31152" y="1097280"/>
            <a:ext cx="905256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1115568"/>
            <a:ext cx="905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微软雅黑"/>
              </a:rPr>
              <a:t>推荐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52544" y="1645919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7373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无限 AI 规划对话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28600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焦虑消费深度识别 + 预警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39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保单 OCR 解读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79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月度亲子财务小报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3192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兴趣班 ROI 热力表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1097280"/>
            <a:ext cx="3611880" cy="4160520"/>
          </a:xfrm>
          <a:prstGeom prst="rect">
            <a:avLst/>
          </a:prstGeom>
          <a:noFill/>
          <a:ln w="7620">
            <a:solidFill>
              <a:srgbClr val="E223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1" y="1207008"/>
            <a:ext cx="361188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8431" y="1207008"/>
            <a:ext cx="3611880" cy="512064"/>
          </a:xfrm>
          <a:prstGeom prst="rect">
            <a:avLst/>
          </a:prstGeom>
          <a:solidFill>
            <a:srgbClr val="08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59" y="1280160"/>
            <a:ext cx="3401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</a:rPr>
              <a:t>高级版  ¥199 / 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755648"/>
            <a:ext cx="336499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93023" y="184708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全部标准版功能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3" y="239572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专属 1v1 顾问服务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3" y="294436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家庭多账号管理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3023" y="349300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年度财务体检报告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3023" y="4041648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✓  优先体验新功能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28431" y="1207008"/>
            <a:ext cx="3611880" cy="3931920"/>
          </a:xfrm>
          <a:prstGeom prst="rect">
            <a:avLst/>
          </a:prstGeom>
          <a:noFill/>
          <a:ln w="7620">
            <a:solidFill>
              <a:srgbClr val="082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5440680"/>
            <a:ext cx="11365992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5596128"/>
            <a:ext cx="1828800" cy="6217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64184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免费体验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3160" y="56967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231A"/>
                </a:solidFill>
                <a:latin typeface="微软雅黑"/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25496" y="5596128"/>
            <a:ext cx="1828800" cy="6217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25496" y="564184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价值验证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54296" y="56967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231A"/>
                </a:solidFill>
                <a:latin typeface="微软雅黑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56632" y="5596128"/>
            <a:ext cx="1828800" cy="6217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56632" y="564184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付费转化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432" y="56967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231A"/>
                </a:solidFill>
                <a:latin typeface="微软雅黑"/>
              </a:rPr>
              <a:t>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87768" y="5596128"/>
            <a:ext cx="1828800" cy="6217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87768" y="564184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口碑传播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569671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2231A"/>
                </a:solidFill>
                <a:latin typeface="微软雅黑"/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18904" y="5596128"/>
            <a:ext cx="1828800" cy="6217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18904" y="564184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</a:rPr>
              <a:t>更多用户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6364224"/>
            <a:ext cx="11365992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64008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D4D4D"/>
                </a:solidFill>
                <a:latin typeface="微软雅黑"/>
              </a:rPr>
              <a:t>3年路径：免费用户 100 万  →  付费转化 10%  →  标准版 ARR ¥9,900 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产品原型  ·  五大核心界面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05/07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09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pic>
        <p:nvPicPr>
          <p:cNvPr id="9" name="Picture 8" descr="screenshot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7726679" cy="42793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234440"/>
            <a:ext cx="14630" cy="427939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94192" y="1280160"/>
            <a:ext cx="36576" cy="7315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29844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  <a:latin typeface="微软雅黑"/>
              </a:rPr>
              <a:t>🏠  首页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591056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4D4D"/>
                </a:solidFill>
                <a:latin typeface="微软雅黑"/>
              </a:rPr>
              <a:t>教育金健康度实时预警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4D4D4D"/>
                </a:solidFill>
                <a:latin typeface="微软雅黑"/>
              </a:rPr>
              <a:t>焦虑消费占比红色标注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94192" y="2084831"/>
            <a:ext cx="36576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4192" y="2157984"/>
            <a:ext cx="36576" cy="73152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762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2231A"/>
                </a:solidFill>
                <a:latin typeface="微软雅黑"/>
              </a:rPr>
              <a:t>📋  规划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79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4D4D"/>
                </a:solidFill>
                <a:latin typeface="微软雅黑"/>
              </a:rPr>
              <a:t>双情景教育金测算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4D4D4D"/>
                </a:solidFill>
                <a:latin typeface="微软雅黑"/>
              </a:rPr>
              <a:t>保单 OCR 一键解读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2962656"/>
            <a:ext cx="36576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192" y="3035808"/>
            <a:ext cx="36576" cy="731520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30540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8B00"/>
                </a:solidFill>
                <a:latin typeface="微软雅黑"/>
              </a:rPr>
              <a:t>💳  账单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346703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4D4D"/>
                </a:solidFill>
                <a:latin typeface="微软雅黑"/>
              </a:rPr>
              <a:t>五色饼图支出分析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4D4D4D"/>
                </a:solidFill>
                <a:latin typeface="微软雅黑"/>
              </a:rPr>
              <a:t>焦虑消费双预警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840480"/>
            <a:ext cx="36576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3913631"/>
            <a:ext cx="36576" cy="73152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3931919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  <a:latin typeface="微软雅黑"/>
              </a:rPr>
              <a:t>🤖 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224527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4D4D"/>
                </a:solidFill>
                <a:latin typeface="微软雅黑"/>
              </a:rPr>
              <a:t>7 轮对话生成规划报告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4D4D4D"/>
                </a:solidFill>
                <a:latin typeface="微软雅黑"/>
              </a:rPr>
              <a:t>生活化比喻实时输出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94192" y="4718303"/>
            <a:ext cx="36576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94192" y="4791456"/>
            <a:ext cx="36576" cy="731520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48097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9C65"/>
                </a:solidFill>
                <a:latin typeface="微软雅黑"/>
              </a:rPr>
              <a:t>💰  财商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102352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D4D4D"/>
                </a:solidFill>
                <a:latin typeface="微软雅黑"/>
              </a:rPr>
              <a:t>三罐子零花钱管理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4D4D4D"/>
                </a:solidFill>
                <a:latin typeface="微软雅黑"/>
              </a:rPr>
              <a:t>劳动奖励任务清单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产品原型  ·  AI 对话流程  &amp;  保险配置决策树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06/07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10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53328" y="1207008"/>
            <a:ext cx="14630" cy="5358384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1615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AI 入户对话流程图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08760"/>
            <a:ext cx="54864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sh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449824" cy="44897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17920" y="1207008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16152"/>
            <a:ext cx="5422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保险配置决策树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508760"/>
            <a:ext cx="5559552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sho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449824" cy="44897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产品原型  ·  功能架构  &amp;  财商教育模块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0" y="201168"/>
            <a:ext cx="1965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微软雅黑"/>
              </a:rPr>
              <a:t>产品方案  07/07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11  /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53328" y="1207008"/>
            <a:ext cx="14630" cy="5358384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07008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1615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功能思维导图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08760"/>
            <a:ext cx="54864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sh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5449824" cy="31546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11480" y="4773168"/>
            <a:ext cx="32004" cy="29260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8231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系统技术架构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074920"/>
            <a:ext cx="5486400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creenshot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956048"/>
            <a:ext cx="5449824" cy="164591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217920" y="1207008"/>
            <a:ext cx="5559552" cy="16824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07008"/>
            <a:ext cx="5559552" cy="29260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1298448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🫙  三罐子零花钱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1627632"/>
            <a:ext cx="532180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1682496"/>
            <a:ext cx="5303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自由支配罐  6 成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储蓄罐  3 成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分享罐  1 成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AI 给出比例参考建议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08376"/>
            <a:ext cx="5559552" cy="16824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3008376"/>
            <a:ext cx="5559552" cy="29260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309981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✅  劳动奖励机制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45936" y="3429000"/>
            <a:ext cx="532180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483864"/>
            <a:ext cx="5303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义务家务不计薪（培养责任感）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额外任务有报酬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财商绘本讲给 AI 听  +¥10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月度任务清单可视化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809744"/>
            <a:ext cx="5559552" cy="1682496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809744"/>
            <a:ext cx="5559552" cy="292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4901183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微软雅黑"/>
              </a:rPr>
              <a:t>🤖  AI 财商学姐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5230368"/>
            <a:ext cx="532180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5285231"/>
            <a:ext cx="53035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D4D4D"/>
                </a:solidFill>
                <a:latin typeface="微软雅黑"/>
              </a:rPr>
              <a:t>发零花钱时推送财商故事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月度宝贝成长报告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18 岁前完成基础财商体系</a:t>
            </a:r>
          </a:p>
          <a:p>
            <a:pPr algn="l">
              <a:spcBef>
                <a:spcPts val="300"/>
              </a:spcBef>
            </a:pPr>
            <a:r>
              <a:rPr sz="1050" b="0">
                <a:solidFill>
                  <a:srgbClr val="4D4D4D"/>
                </a:solidFill>
                <a:latin typeface="微软雅黑"/>
              </a:rPr>
              <a:t>亲子共同参与激励机制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6576" cy="56692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10241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微软雅黑"/>
              </a:rPr>
              <a:t>关键问题思考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41248"/>
            <a:ext cx="11338560" cy="16459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510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12  /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8888"/>
                </a:solidFill>
                <a:latin typeface="微软雅黑"/>
              </a:rPr>
              <a:t>芽计  YaPlan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201168"/>
            <a:ext cx="2148840" cy="27432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75520" y="292608"/>
            <a:ext cx="2148840" cy="27432"/>
          </a:xfrm>
          <a:prstGeom prst="rect">
            <a:avLst/>
          </a:prstGeom>
          <a:solidFill>
            <a:srgbClr val="E74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0" y="384048"/>
            <a:ext cx="2148840" cy="27432"/>
          </a:xfrm>
          <a:prstGeom prst="rect">
            <a:avLst/>
          </a:prstGeom>
          <a:solidFill>
            <a:srgbClr val="EC72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0" y="475488"/>
            <a:ext cx="2148840" cy="27432"/>
          </a:xfrm>
          <a:prstGeom prst="rect">
            <a:avLst/>
          </a:prstGeom>
          <a:solidFill>
            <a:srgbClr val="F199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75520" y="566928"/>
            <a:ext cx="2148840" cy="27432"/>
          </a:xfrm>
          <a:prstGeom prst="rect">
            <a:avLst/>
          </a:prstGeom>
          <a:solidFill>
            <a:srgbClr val="F6C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658368"/>
            <a:ext cx="2148840" cy="27432"/>
          </a:xfrm>
          <a:prstGeom prst="rect">
            <a:avLst/>
          </a:prstGeom>
          <a:solidFill>
            <a:srgbClr val="FC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234440"/>
            <a:ext cx="11365992" cy="1572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234440"/>
            <a:ext cx="11365992" cy="25603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260043"/>
            <a:ext cx="36576" cy="1545336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490472"/>
            <a:ext cx="804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2231A"/>
                </a:solidFill>
                <a:latin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1344168"/>
            <a:ext cx="98023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数据隐私边界：如何在本地加密与云端 AI 之间取得平衡？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1764792"/>
            <a:ext cx="980236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1837944"/>
            <a:ext cx="980236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家庭财务数据极度敏感。芽计答案：核心数据端侧 AES-256 加密，AI 仅接触脱敏摘要，用户可随时断开云同步，数据主权完整保留。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26080"/>
            <a:ext cx="11365992" cy="1572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926080"/>
            <a:ext cx="11365992" cy="25603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951683"/>
            <a:ext cx="36576" cy="1545336"/>
          </a:xfrm>
          <a:prstGeom prst="rect">
            <a:avLst/>
          </a:prstGeom>
          <a:solidFill>
            <a:srgbClr val="D4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82112"/>
            <a:ext cx="804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8B00"/>
                </a:solidFill>
                <a:latin typeface="微软雅黑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035808"/>
            <a:ext cx="98023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AI 建议的监管合规：财务建议是否构成「投资顾问」？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3456432"/>
            <a:ext cx="980236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529584"/>
            <a:ext cx="980236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中国监管对投资建议有严格界定。芽计定位为「决策辅助工具」而非投资顾问，核心输出均为信息参考，内容经合规审查，不提供具体标的推荐。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17720"/>
            <a:ext cx="11365992" cy="15727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4617720"/>
            <a:ext cx="11365992" cy="25603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" y="4643323"/>
            <a:ext cx="36576" cy="1545336"/>
          </a:xfrm>
          <a:prstGeom prst="rect">
            <a:avLst/>
          </a:prstGeom>
          <a:solidFill>
            <a:srgbClr val="2D9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873752"/>
            <a:ext cx="804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D9C65"/>
                </a:solidFill>
                <a:latin typeface="微软雅黑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727448"/>
            <a:ext cx="98023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微软雅黑"/>
              </a:rPr>
              <a:t>如何避免成为新的焦虑制造者？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3040" y="5148072"/>
            <a:ext cx="9802368" cy="1463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63040" y="5221224"/>
            <a:ext cx="9802368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微软雅黑"/>
              </a:rPr>
              <a:t>产品第一原则——先帮家长说「不」，再说「怎么做」。月度小报的第一行永远是：「本月您帮孩子节省了 ¥X 焦虑消费」。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6355080"/>
            <a:ext cx="11365992" cy="38404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6355080"/>
            <a:ext cx="36576" cy="384048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373368"/>
            <a:ext cx="11109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</a:rPr>
              <a:t>"我们相信，最好的财务顾问不是推销产品，而是帮你想清楚。"  —  芽计  YaPlan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