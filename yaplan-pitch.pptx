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320040"/>
            <a:ext cx="45720" cy="5943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8254D"/>
                </a:solidFill>
                <a:latin typeface="微软雅黑"/>
              </a:rPr>
              <a:t>产品画布 · Lean Canvas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01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芽计 YaPlan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微软雅黑"/>
              </a:rPr>
              <a:t>产品画布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" y="1280160"/>
            <a:ext cx="3566160" cy="4937760"/>
          </a:xfrm>
          <a:prstGeom prst="rect">
            <a:avLst/>
          </a:prstGeom>
          <a:solidFill>
            <a:srgbClr val="F7FAFF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1280160"/>
            <a:ext cx="3566160" cy="4937760"/>
          </a:xfrm>
          <a:prstGeom prst="rect">
            <a:avLst/>
          </a:prstGeom>
          <a:solidFill>
            <a:srgbClr val="FFF8F5"/>
          </a:solidFill>
          <a:ln w="190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36408" y="1280160"/>
            <a:ext cx="3566160" cy="4937760"/>
          </a:xfrm>
          <a:prstGeom prst="rect">
            <a:avLst/>
          </a:prstGeom>
          <a:solidFill>
            <a:srgbClr val="F5FFF8"/>
          </a:solidFill>
          <a:ln w="19050">
            <a:solidFill>
              <a:srgbClr val="4E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3716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0D9"/>
                </a:solidFill>
                <a:latin typeface="微软雅黑"/>
              </a:rPr>
              <a:t>🎯 问题与痛点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" y="1783080"/>
            <a:ext cx="320040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82880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① 教育支出焦虑，缺乏整体规划框架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② 保险配置混乱，面对销售话术无从判断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③ 焦虑型课外消费泛滥，38%支出属情绪驱动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④ 零花钱给了不知怎么引导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13716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42"/>
                </a:solidFill>
                <a:latin typeface="微软雅黑"/>
              </a:rPr>
              <a:t>💡 解决方案（攒·保·理·教）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5968" y="1783080"/>
            <a:ext cx="320040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15968" y="182880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攒：AI双情景教育金测算与定投计划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保：保单OCR解读，非销售保险配置建议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理：多模态记账+焦虑消费3层检测+冷静期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教：三罐子零花钱+劳动奖励+财商小课堂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13716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BF8F"/>
                </a:solidFill>
                <a:latin typeface="微软雅黑"/>
              </a:rPr>
              <a:t>✦ 独特价值主张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9288" y="1783080"/>
            <a:ext cx="320040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9288" y="182880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"第一个对你说'不'的财务顾问"</a:t>
            </a:r>
          </a:p>
          <a:p>
            <a:pPr algn="l"/>
          </a:p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纯规划、不销售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焦虑消费识别（行业首创）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生活化比喻翻译金融术语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0-18岁全周期陪伴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" y="5989320"/>
            <a:ext cx="3566160" cy="640080"/>
          </a:xfrm>
          <a:prstGeom prst="rect">
            <a:avLst/>
          </a:prstGeom>
          <a:solidFill>
            <a:srgbClr val="F0F0F0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7" y="6035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微软雅黑"/>
              </a:rPr>
              <a:t>用户群体：0-18岁子女城市中产家庭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33087" y="5989320"/>
            <a:ext cx="3566160" cy="640080"/>
          </a:xfrm>
          <a:prstGeom prst="rect">
            <a:avLst/>
          </a:prstGeom>
          <a:solidFill>
            <a:srgbClr val="F0F0F0"/>
          </a:solidFill>
          <a:ln w="127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24527" y="6035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微软雅黑"/>
              </a:rPr>
              <a:t>商业模式：Freemium ¥99-199/月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36408" y="5989320"/>
            <a:ext cx="3566160" cy="640080"/>
          </a:xfrm>
          <a:prstGeom prst="rect">
            <a:avLst/>
          </a:prstGeom>
          <a:solidFill>
            <a:srgbClr val="F0F0F0"/>
          </a:solidFill>
          <a:ln w="12700">
            <a:solidFill>
              <a:srgbClr val="4E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6035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微软雅黑"/>
              </a:rPr>
              <a:t>技术：Claude API + 多模态OCR + 规则引擎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320040"/>
            <a:ext cx="45720" cy="5943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8254D"/>
                </a:solidFill>
                <a:latin typeface="微软雅黑"/>
              </a:rPr>
              <a:t>用户需求分析 · 三阶段家庭画像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芽计 YaPlan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微软雅黑"/>
              </a:rPr>
              <a:t>用户研究 01/03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" y="1371600"/>
            <a:ext cx="3474720" cy="5029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389888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/>
              </a:rPr>
              <a:t>新生期 0-3岁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" y="1874519"/>
            <a:ext cx="34747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920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微软雅黑"/>
              </a:rPr>
              <a:t>👤 25-35岁双职工，月入1.5-4万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1207" y="2331720"/>
            <a:ext cx="329184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423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8254D"/>
                </a:solidFill>
                <a:latin typeface="微软雅黑"/>
              </a:rPr>
              <a:t>核心痛点：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74320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• 早教课值不值？报还是不报？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• 保险该买哪些？被话术绑架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• 教育金何时开始？怎么存？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1207" y="4434840"/>
            <a:ext cx="329184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498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微软雅黑"/>
              </a:rPr>
              <a:t>月均教育支出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7548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00000"/>
                </a:solidFill>
                <a:latin typeface="微软雅黑"/>
              </a:rPr>
              <a:t>¥3,200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50791" y="1371600"/>
            <a:ext cx="3474720" cy="50292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42231" y="1389888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/>
              </a:rPr>
              <a:t>成长期 4-12岁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50791" y="1874519"/>
            <a:ext cx="34747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87952" y="1920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微软雅黑"/>
              </a:rPr>
              <a:t>👤 30-42岁中产，月入2.5-8万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42231" y="2331720"/>
            <a:ext cx="329184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87952" y="2423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8254D"/>
                </a:solidFill>
                <a:latin typeface="微软雅黑"/>
              </a:rPr>
              <a:t>核心痛点：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87952" y="274320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• 课外班军备竞赛，月花8,000+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• 教育金储备进度滞后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• 同伴压力导致跟风报班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42231" y="4434840"/>
            <a:ext cx="329184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87952" y="4498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微软雅黑"/>
              </a:rPr>
              <a:t>月均教育支出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87952" y="47548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00000"/>
                </a:solidFill>
                <a:latin typeface="微软雅黑"/>
              </a:rPr>
              <a:t>¥6,800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80960" y="1371600"/>
            <a:ext cx="3474720" cy="502920"/>
          </a:xfrm>
          <a:prstGeom prst="rect">
            <a:avLst/>
          </a:prstGeom>
          <a:solidFill>
            <a:srgbClr val="4E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1389888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/>
              </a:rPr>
              <a:t>冲刺期 13-18岁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80960" y="1874519"/>
            <a:ext cx="34747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18120" y="1920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微软雅黑"/>
              </a:rPr>
              <a:t>👤 40-52岁，月入4-12万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0" y="2331720"/>
            <a:ext cx="329184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18120" y="2423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8254D"/>
                </a:solidFill>
                <a:latin typeface="微软雅黑"/>
              </a:rPr>
              <a:t>核心痛点：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20" y="274320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• 出国vs国内？200-500万差距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• 留学费用测算，缺乏独立工具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• 资产不动产化，流动性不足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0" y="4434840"/>
            <a:ext cx="329184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18120" y="4498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微软雅黑"/>
              </a:rPr>
              <a:t>月均教育支出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8120" y="47548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00000"/>
                </a:solidFill>
                <a:latin typeface="微软雅黑"/>
              </a:rPr>
              <a:t>¥12,400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320040"/>
            <a:ext cx="45720" cy="5943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8254D"/>
                </a:solidFill>
                <a:latin typeface="微软雅黑"/>
              </a:rPr>
              <a:t>用户需求分析 · 焦虑型消费识别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芽计 YaPlan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微软雅黑"/>
              </a:rPr>
              <a:t>用户研究 02/03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" y="1143000"/>
            <a:ext cx="3749039" cy="1005840"/>
          </a:xfrm>
          <a:prstGeom prst="rect">
            <a:avLst/>
          </a:prstGeom>
          <a:solidFill>
            <a:srgbClr val="F5F5F5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7043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00000"/>
                </a:solidFill>
                <a:latin typeface="微软雅黑"/>
              </a:rPr>
              <a:t>38%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7373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微软雅黑"/>
              </a:rPr>
              <a:t>育儿支出属焦虑驱动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1688" y="1143000"/>
            <a:ext cx="3749039" cy="100584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7" y="117043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8C42"/>
                </a:solidFill>
                <a:latin typeface="微软雅黑"/>
              </a:rPr>
              <a:t>87%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7" y="17373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微软雅黑"/>
              </a:rPr>
              <a:t>家长报名后曾后悔的课程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93608" y="1143000"/>
            <a:ext cx="3749039" cy="1005840"/>
          </a:xfrm>
          <a:prstGeom prst="rect">
            <a:avLst/>
          </a:prstGeom>
          <a:solidFill>
            <a:srgbClr val="F5F5F5"/>
          </a:solidFill>
          <a:ln w="19050">
            <a:solidFill>
              <a:srgbClr val="4E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117043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4EBF8F"/>
                </a:solidFill>
                <a:latin typeface="微软雅黑"/>
              </a:rPr>
              <a:t>-¥2,100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17373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微软雅黑"/>
              </a:rPr>
              <a:t>芽计用户月均识别的焦虑消费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" y="2331720"/>
            <a:ext cx="5029200" cy="320040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" y="2331720"/>
            <a:ext cx="73152" cy="3200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微软雅黑"/>
              </a:rPr>
              <a:t>❌ 焦虑驱动型消费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880360"/>
            <a:ext cx="4663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• 看到KOL推荐冲动下单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• 听说别人家孩子都在学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• 周末深夜突击报班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• 无ROI评估，跟风即买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• 孩子不感兴趣但续费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2331720"/>
            <a:ext cx="1280160" cy="3200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2560320"/>
            <a:ext cx="1188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芽</a:t>
            </a:r>
            <a:br/>
            <a:r>
              <a:rPr sz="1300" b="1" i="0">
                <a:solidFill>
                  <a:srgbClr val="FFFFFF"/>
                </a:solidFill>
                <a:latin typeface="微软雅黑"/>
              </a:rPr>
              <a:t>计</a:t>
            </a:r>
            <a:br/>
            <a:r>
              <a:rPr sz="1300" b="1" i="0">
                <a:solidFill>
                  <a:srgbClr val="FFFFFF"/>
                </a:solidFill>
                <a:latin typeface="微软雅黑"/>
              </a:rPr>
              <a:t>帮</a:t>
            </a:r>
            <a:br/>
            <a:r>
              <a:rPr sz="1300" b="1" i="0">
                <a:solidFill>
                  <a:srgbClr val="FFFFFF"/>
                </a:solidFill>
                <a:latin typeface="微软雅黑"/>
              </a:rPr>
              <a:t>你</a:t>
            </a:r>
            <a:br/>
            <a:r>
              <a:rPr sz="1300" b="1" i="0">
                <a:solidFill>
                  <a:srgbClr val="FFFFFF"/>
                </a:solidFill>
                <a:latin typeface="微软雅黑"/>
              </a:rPr>
              <a:t>识</a:t>
            </a:r>
            <a:br/>
            <a:r>
              <a:rPr sz="1300" b="1" i="0">
                <a:solidFill>
                  <a:srgbClr val="FFFFFF"/>
                </a:solidFill>
                <a:latin typeface="微软雅黑"/>
              </a:rPr>
              <a:t>别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60" y="2331720"/>
            <a:ext cx="5029200" cy="3200400"/>
          </a:xfrm>
          <a:prstGeom prst="rect">
            <a:avLst/>
          </a:prstGeom>
          <a:solidFill>
            <a:srgbClr val="F5F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66560" y="2331720"/>
            <a:ext cx="73152" cy="3200400"/>
          </a:xfrm>
          <a:prstGeom prst="rect">
            <a:avLst/>
          </a:prstGeom>
          <a:solidFill>
            <a:srgbClr val="4E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BF8F"/>
                </a:solidFill>
                <a:latin typeface="微软雅黑"/>
              </a:rPr>
              <a:t>✅ 理性规划型消费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2880360"/>
            <a:ext cx="4663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• 基于孩子兴趣和意愿决策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• 有明确学习目标和退出机制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• 评估性价比后决定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• 定期复盘课程出勤与效果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• 纳入家庭月度预算管控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9999"/>
                </a:solidFill>
                <a:latin typeface="微软雅黑"/>
              </a:rPr>
              <a:t>芽计通过行为信号+语义情绪+综合评分三层机制，在消费决策前给出理性提醒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320040"/>
            <a:ext cx="45720" cy="5943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8254D"/>
                </a:solidFill>
                <a:latin typeface="微软雅黑"/>
              </a:rPr>
              <a:t>用户需求分析 · 市场规模与机会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芽计 YaPlan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微软雅黑"/>
              </a:rPr>
              <a:t>用户研究 03/03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" y="1234440"/>
            <a:ext cx="7315200" cy="4846320"/>
          </a:xfrm>
          <a:prstGeom prst="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7" y="1325880"/>
            <a:ext cx="7040880" cy="4709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90D9"/>
                </a:solidFill>
                <a:latin typeface="微软雅黑"/>
              </a:rPr>
              <a:t>TAM  总市场：2.1亿有子女家庭 · 潜在规模¥6,300亿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1737360"/>
            <a:ext cx="6400800" cy="3749039"/>
          </a:xfrm>
          <a:prstGeom prst="rect">
            <a:avLst/>
          </a:prstGeom>
          <a:solidFill>
            <a:srgbClr val="FF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1828800"/>
            <a:ext cx="6126480" cy="3611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8C42"/>
                </a:solidFill>
                <a:latin typeface="微软雅黑"/>
              </a:rPr>
              <a:t>SAM  可触达市场：4,200万城市中产家庭 · ¥1,260亿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54480" y="2331720"/>
            <a:ext cx="5120640" cy="256032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2423160"/>
            <a:ext cx="48463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微软雅黑"/>
              </a:rPr>
              <a:t>SOM  目标：210万家庭 · ¥6.3亿ARR（3年）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234440"/>
            <a:ext cx="38404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234440"/>
            <a:ext cx="73152" cy="10058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280160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00000"/>
                </a:solidFill>
                <a:latin typeface="微软雅黑"/>
              </a:rPr>
              <a:t>68%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828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微软雅黑"/>
              </a:rPr>
              <a:t>受访家长表示缺乏系统财务规划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2377440"/>
            <a:ext cx="38404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2377440"/>
            <a:ext cx="73152" cy="10058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2423160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A90D9"/>
                </a:solidFill>
                <a:latin typeface="微软雅黑"/>
              </a:rPr>
              <a:t>¥3.2万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971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微软雅黑"/>
              </a:rPr>
              <a:t>城市家庭年均课外教育支出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3520440"/>
            <a:ext cx="38404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4E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3520440"/>
            <a:ext cx="73152" cy="1005840"/>
          </a:xfrm>
          <a:prstGeom prst="rect">
            <a:avLst/>
          </a:prstGeom>
          <a:solidFill>
            <a:srgbClr val="4E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3566160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EBF8F"/>
                </a:solidFill>
                <a:latin typeface="微软雅黑"/>
              </a:rPr>
              <a:t>92%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114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微软雅黑"/>
              </a:rPr>
              <a:t>愿为精准规划付费的家长比例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4663440"/>
            <a:ext cx="38404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4663440"/>
            <a:ext cx="73152" cy="100584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4709159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8C42"/>
                </a:solidFill>
                <a:latin typeface="微软雅黑"/>
              </a:rPr>
              <a:t>18年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5257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微软雅黑"/>
              </a:rPr>
              <a:t>单用户生命周期 · LTV可达¥3,582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微软雅黑"/>
              </a:rPr>
              <a:t>数据来源：艾瑞咨询2025 / 国家统计局 / CFPS家庭追踪调查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320040"/>
            <a:ext cx="45720" cy="5943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8254D"/>
                </a:solidFill>
                <a:latin typeface="微软雅黑"/>
              </a:rPr>
              <a:t>产品方案 · 攒·保·理·教 四模块定位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芽计 YaPlan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微软雅黑"/>
              </a:rPr>
              <a:t>产品方案 01/07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" y="1188720"/>
            <a:ext cx="1143000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微软雅黑"/>
              </a:rPr>
              <a:t>所有功能通过对话式AI串联，构成亲子家庭财务的整体框架 · 角色定位：家庭财务医生 × 成长陪伴学姐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" y="1783080"/>
            <a:ext cx="5212080" cy="2011680"/>
          </a:xfrm>
          <a:prstGeom prst="rect">
            <a:avLst/>
          </a:prstGeom>
          <a:solidFill>
            <a:srgbClr val="FFFFFF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7" y="187451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0D9"/>
                </a:solidFill>
                <a:latin typeface="微软雅黑"/>
              </a:rPr>
              <a:t>📈 攒 · 教育金规划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31720"/>
            <a:ext cx="4937760" cy="18288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7" y="2377440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PMT公式精准测算缺口 / 双情景模拟（国内vs出国）</a:t>
            </a:r>
            <a:br/>
            <a:r>
              <a:rPr sz="1100" b="0" i="0">
                <a:solidFill>
                  <a:srgbClr val="333333"/>
                </a:solidFill>
                <a:latin typeface="微软雅黑"/>
              </a:rPr>
              <a:t>每年开学季动态校准 / 生活化比喻：¥36万缺口=360次家庭大餐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783080"/>
            <a:ext cx="5212080" cy="201168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187451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微软雅黑"/>
              </a:rPr>
              <a:t>🛡️ 保 · 保险配置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7880" y="2331720"/>
            <a:ext cx="4937760" cy="1828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2377440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保单OCR解读关键条款 / 先大人后小孩优先级</a:t>
            </a:r>
            <a:br/>
            <a:r>
              <a:rPr sz="1100" b="0" i="0">
                <a:solidFill>
                  <a:srgbClr val="333333"/>
                </a:solidFill>
                <a:latin typeface="微软雅黑"/>
              </a:rPr>
              <a:t>非销售承诺，只分析不导流 / 通俗险种比喻库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3931920"/>
            <a:ext cx="5212080" cy="2011680"/>
          </a:xfrm>
          <a:prstGeom prst="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7" y="402335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C42"/>
                </a:solidFill>
                <a:latin typeface="微软雅黑"/>
              </a:rPr>
              <a:t>💸 理 · 支出管理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480559"/>
            <a:ext cx="4937760" cy="1828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7" y="4526280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拍票据/截图/语音多模态记账 / 3层焦虑消费检测</a:t>
            </a:r>
            <a:br/>
            <a:r>
              <a:rPr sz="1100" b="0" i="0">
                <a:solidFill>
                  <a:srgbClr val="333333"/>
                </a:solidFill>
                <a:latin typeface="微软雅黑"/>
              </a:rPr>
              <a:t>24h购物车冷静期 / 兴趣班ROI热力表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3931920"/>
            <a:ext cx="5212080" cy="2011680"/>
          </a:xfrm>
          <a:prstGeom prst="rect">
            <a:avLst/>
          </a:prstGeom>
          <a:solidFill>
            <a:srgbClr val="FFFFFF"/>
          </a:solidFill>
          <a:ln w="25400">
            <a:solidFill>
              <a:srgbClr val="4E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402335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BF8F"/>
                </a:solidFill>
                <a:latin typeface="微软雅黑"/>
              </a:rPr>
              <a:t>💰 教 · 财商教育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97880" y="4480559"/>
            <a:ext cx="4937760" cy="18288"/>
          </a:xfrm>
          <a:prstGeom prst="rect">
            <a:avLst/>
          </a:prstGeom>
          <a:solidFill>
            <a:srgbClr val="4E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4526280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三罐子零花钱模型 / 劳动-奖励任务清单</a:t>
            </a:r>
            <a:br/>
            <a:r>
              <a:rPr sz="1100" b="0" i="0">
                <a:solidFill>
                  <a:srgbClr val="333333"/>
                </a:solidFill>
                <a:latin typeface="微软雅黑"/>
              </a:rPr>
              <a:t>AI发零花钱时推财商故事 / 财商绘本讲给AI听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320040"/>
            <a:ext cx="45720" cy="5943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8254D"/>
                </a:solidFill>
                <a:latin typeface="微软雅黑"/>
              </a:rPr>
              <a:t>产品方案 · 差异化定位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芽计 YaPlan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微软雅黑"/>
              </a:rPr>
              <a:t>产品方案 02/07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9768" y="1234440"/>
          <a:ext cx="978408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1645920"/>
                <a:gridCol w="164592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功能维度</a:t>
                      </a:r>
                    </a:p>
                  </a:txBody>
                  <a:tcPr>
                    <a:solidFill>
                      <a:srgbClr val="0825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芽计 YaPlan</a:t>
                      </a:r>
                    </a:p>
                  </a:txBody>
                  <a:tcPr>
                    <a:solidFill>
                      <a:srgbClr val="0825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挖财</a:t>
                      </a:r>
                    </a:p>
                  </a:txBody>
                  <a:tcPr>
                    <a:solidFill>
                      <a:srgbClr val="0825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支付宝财富</a:t>
                      </a:r>
                    </a:p>
                  </a:txBody>
                  <a:tcPr>
                    <a:solidFill>
                      <a:srgbClr val="0825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Greenlight</a:t>
                      </a:r>
                    </a:p>
                  </a:txBody>
                  <a:tcPr>
                    <a:solidFill>
                      <a:srgbClr val="0825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微软雅黑"/>
                        </a:rPr>
                        <a:t>焦虑消费识别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EBF8F"/>
                          </a:solidFill>
                          <a:latin typeface="微软雅黑"/>
                        </a:rPr>
                        <a:t>✅ 行业首创</a:t>
                      </a:r>
                    </a:p>
                  </a:txBody>
                  <a:tcPr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999999"/>
                          </a:solidFill>
                          <a:latin typeface="微软雅黑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999999"/>
                          </a:solidFill>
                          <a:latin typeface="微软雅黑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999999"/>
                          </a:solidFill>
                          <a:latin typeface="微软雅黑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微软雅黑"/>
                        </a:rPr>
                        <a:t>保单OCR解读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EBF8F"/>
                          </a:solidFill>
                          <a:latin typeface="微软雅黑"/>
                        </a:rPr>
                        <a:t>✅ 通俗解析</a:t>
                      </a:r>
                    </a:p>
                  </a:txBody>
                  <a:tcPr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999999"/>
                          </a:solidFill>
                          <a:latin typeface="微软雅黑"/>
                        </a:rPr>
                        <a:t>❌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999999"/>
                          </a:solidFill>
                          <a:latin typeface="微软雅黑"/>
                        </a:rPr>
                        <a:t>❌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999999"/>
                          </a:solidFill>
                          <a:latin typeface="微软雅黑"/>
                        </a:rPr>
                        <a:t>❌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微软雅黑"/>
                        </a:rPr>
                        <a:t>非销售导向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EBF8F"/>
                          </a:solidFill>
                          <a:latin typeface="微软雅黑"/>
                        </a:rPr>
                        <a:t>✅ 无返佣</a:t>
                      </a:r>
                    </a:p>
                  </a:txBody>
                  <a:tcPr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999999"/>
                          </a:solidFill>
                          <a:latin typeface="微软雅黑"/>
                        </a:rPr>
                        <a:t>❌ 有广告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999999"/>
                          </a:solidFill>
                          <a:latin typeface="微软雅黑"/>
                        </a:rPr>
                        <a:t>❌ 有佣金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EBF8F"/>
                          </a:solidFill>
                          <a:latin typeface="微软雅黑"/>
                        </a:rPr>
                        <a:t>✅ 基础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微软雅黑"/>
                        </a:rPr>
                        <a:t>教育金测算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EBF8F"/>
                          </a:solidFill>
                          <a:latin typeface="微软雅黑"/>
                        </a:rPr>
                        <a:t>✅ 双情景</a:t>
                      </a:r>
                    </a:p>
                  </a:txBody>
                  <a:tcPr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微软雅黑"/>
                        </a:rPr>
                        <a:t>无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微软雅黑"/>
                        </a:rPr>
                        <a:t>弱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微软雅黑"/>
                        </a:rPr>
                        <a:t>无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微软雅黑"/>
                        </a:rPr>
                        <a:t>亲子财商教育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EBF8F"/>
                          </a:solidFill>
                          <a:latin typeface="微软雅黑"/>
                        </a:rPr>
                        <a:t>✅ 三罐子+绘本</a:t>
                      </a:r>
                    </a:p>
                  </a:txBody>
                  <a:tcPr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999999"/>
                          </a:solidFill>
                          <a:latin typeface="微软雅黑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999999"/>
                          </a:solidFill>
                          <a:latin typeface="微软雅黑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EBF8F"/>
                          </a:solidFill>
                          <a:latin typeface="微软雅黑"/>
                        </a:rPr>
                        <a:t>✅ 基础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  <a:latin typeface="微软雅黑"/>
                        </a:rPr>
                        <a:t>生活化比喻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EBF8F"/>
                          </a:solidFill>
                          <a:latin typeface="微软雅黑"/>
                        </a:rPr>
                        <a:t>✅ 内置系统</a:t>
                      </a:r>
                    </a:p>
                  </a:txBody>
                  <a:tcPr>
                    <a:solidFill>
                      <a:srgbClr val="FF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999999"/>
                          </a:solidFill>
                          <a:latin typeface="微软雅黑"/>
                        </a:rPr>
                        <a:t>❌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999999"/>
                          </a:solidFill>
                          <a:latin typeface="微软雅黑"/>
                        </a:rPr>
                        <a:t>❌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999999"/>
                          </a:solidFill>
                          <a:latin typeface="微软雅黑"/>
                        </a:rPr>
                        <a:t>❌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29768" y="5257800"/>
            <a:ext cx="3566160" cy="914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7" y="53035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🧠 焦虑识别引擎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56692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行业首创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1688" y="5257800"/>
            <a:ext cx="3566160" cy="914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7" y="53035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📊 非销售导向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7" y="56692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信任经济壁垒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93608" y="5257800"/>
            <a:ext cx="3566160" cy="914400"/>
          </a:xfrm>
          <a:prstGeom prst="rect">
            <a:avLst/>
          </a:prstGeom>
          <a:solidFill>
            <a:srgbClr val="4E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53035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💬 语言翻译器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56692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金融术语→生活比喻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320040"/>
            <a:ext cx="45720" cy="5943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8254D"/>
                </a:solidFill>
                <a:latin typeface="微软雅黑"/>
              </a:rPr>
              <a:t>产品方案 · AI能力运用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芽计 YaPlan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微软雅黑"/>
              </a:rPr>
              <a:t>产品方案 03/07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" y="1188720"/>
            <a:ext cx="1143000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微软雅黑"/>
              </a:rPr>
              <a:t>AI双重角色：🏥 家庭财务医生（客观、专业、不卖东西） × 👩‍🎓 成长陪伴学姐（温暖、真实、懂孩子）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" y="1783080"/>
            <a:ext cx="5943600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105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微软雅黑"/>
              </a:rPr>
              <a:t>Step1  🗣️ 对话采集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488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微软雅黑"/>
              </a:rPr>
              <a:t>自然语言问答，采集家庭基本信息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51460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66666"/>
                </a:solidFill>
                <a:latin typeface="微软雅黑"/>
              </a:rPr>
              <a:t>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" y="2651760"/>
            <a:ext cx="5943600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679191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微软雅黑"/>
              </a:rPr>
              <a:t>Step2  🔍 需求挖掘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01752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微软雅黑"/>
              </a:rPr>
              <a:t>识别显性需求与隐性焦虑来源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38328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66666"/>
                </a:solidFill>
                <a:latin typeface="微软雅黑"/>
              </a:rPr>
              <a:t>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3520439"/>
            <a:ext cx="5943600" cy="73152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547871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微软雅黑"/>
              </a:rPr>
              <a:t>Step3  📊 方案生成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88620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微软雅黑"/>
              </a:rPr>
              <a:t>PMT计算+双情景+生活化比喻输出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425195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66666"/>
                </a:solidFill>
                <a:latin typeface="微软雅黑"/>
              </a:rPr>
              <a:t>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" y="4389120"/>
            <a:ext cx="5943600" cy="7315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41655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微软雅黑"/>
              </a:rPr>
              <a:t>Step4  ⚠️ 焦虑检测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75488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微软雅黑"/>
              </a:rPr>
              <a:t>行为信号+语义情绪+综合评分三层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512064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66666"/>
                </a:solidFill>
                <a:latin typeface="微软雅黑"/>
              </a:rPr>
              <a:t>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8" y="5257800"/>
            <a:ext cx="5943600" cy="731520"/>
          </a:xfrm>
          <a:prstGeom prst="rect">
            <a:avLst/>
          </a:prstGeom>
          <a:solidFill>
            <a:srgbClr val="4E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28523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微软雅黑"/>
              </a:rPr>
              <a:t>Step5  🔄 动态复盘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62356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微软雅黑"/>
              </a:rPr>
              <a:t>月度小报+季度报告+年度校准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1783080"/>
            <a:ext cx="1645920" cy="1371600"/>
          </a:xfrm>
          <a:prstGeom prst="rect">
            <a:avLst/>
          </a:prstGeom>
          <a:solidFill>
            <a:srgbClr val="F0F4FF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1874519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8254D"/>
                </a:solidFill>
                <a:latin typeface="微软雅黑"/>
              </a:rPr>
              <a:t>📸 拍票据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23317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66666"/>
                </a:solidFill>
                <a:latin typeface="微软雅黑"/>
              </a:rPr>
              <a:t>OCR自动归类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58200" y="1783080"/>
            <a:ext cx="1645920" cy="1371600"/>
          </a:xfrm>
          <a:prstGeom prst="rect">
            <a:avLst/>
          </a:prstGeom>
          <a:solidFill>
            <a:srgbClr val="F0F4FF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1874519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8254D"/>
                </a:solidFill>
                <a:latin typeface="微软雅黑"/>
              </a:rPr>
              <a:t>🎙️ 语音记账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3317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66666"/>
                </a:solidFill>
                <a:latin typeface="微软雅黑"/>
              </a:rPr>
              <a:t>自然语言录入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241280" y="1783080"/>
            <a:ext cx="1645920" cy="1371600"/>
          </a:xfrm>
          <a:prstGeom prst="rect">
            <a:avLst/>
          </a:prstGeom>
          <a:solidFill>
            <a:srgbClr val="F0F4FF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87000" y="1874519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8254D"/>
                </a:solidFill>
                <a:latin typeface="微软雅黑"/>
              </a:rPr>
              <a:t>📄 截图保单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23317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66666"/>
                </a:solidFill>
                <a:latin typeface="微软雅黑"/>
              </a:rPr>
              <a:t>AI提取条款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75120" y="3291840"/>
            <a:ext cx="5303520" cy="1097280"/>
          </a:xfrm>
          <a:prstGeom prst="rect">
            <a:avLst/>
          </a:prstGeom>
          <a:solidFill>
            <a:srgbClr val="EEF3FF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0" y="333756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8254D"/>
                </a:solidFill>
                <a:latin typeface="微软雅黑"/>
              </a:rPr>
              <a:t>用户：'5岁女儿，想出国，月入3-5万'</a:t>
            </a:r>
            <a:br/>
            <a:r>
              <a:rPr sz="1100" b="0" i="0">
                <a:solidFill>
                  <a:srgbClr val="08254D"/>
                </a:solidFill>
                <a:latin typeface="微软雅黑"/>
              </a:rPr>
              <a:t>→ 芽计：'目标¥120万，月投¥4,900，</a:t>
            </a:r>
            <a:br/>
            <a:r>
              <a:rPr sz="1100" b="0" i="0">
                <a:solidFill>
                  <a:srgbClr val="08254D"/>
                </a:solidFill>
                <a:latin typeface="微软雅黑"/>
              </a:rPr>
              <a:t>相当于每天少一杯奶茶+咖啡'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45720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微软雅黑"/>
              </a:rPr>
              <a:t>底层：Claude API · 多模态OCR · 规则引擎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320040"/>
            <a:ext cx="45720" cy="5943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8254D"/>
                </a:solidFill>
                <a:latin typeface="微软雅黑"/>
              </a:rPr>
              <a:t>产品方案 · 商业模式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芽计 YaPlan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微软雅黑"/>
              </a:rPr>
              <a:t>产品方案 04/07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3474720" cy="3657600"/>
          </a:xfrm>
          <a:prstGeom prst="rect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474720" cy="5486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</a:rPr>
              <a:t>免费版 Free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65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✓  基础教育金测算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✓  AI对话3次/月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7180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✓  支出分类记录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747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✓  焦虑消费基础识别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0" y="1143000"/>
            <a:ext cx="347472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0" y="1143000"/>
            <a:ext cx="3474720" cy="54864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</a:rPr>
              <a:t>标准版 ¥99/月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0" y="1143000"/>
            <a:ext cx="822960" cy="3200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1612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微软雅黑"/>
              </a:rPr>
              <a:t>推荐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182880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✓  无限AI规划对话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23317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✓  焦虑消费深度识别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28346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✓  保单OCR解读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33375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✓  月度亲子财务小报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8404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✓  兴趣班ROI热力表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0" y="1280160"/>
            <a:ext cx="3474720" cy="3657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2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0" y="1280160"/>
            <a:ext cx="3474720" cy="548640"/>
          </a:xfrm>
          <a:prstGeom prst="rect">
            <a:avLst/>
          </a:prstGeom>
          <a:solidFill>
            <a:srgbClr val="08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13258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</a:rPr>
              <a:t>高级版 ¥199/月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1965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✓  全部标准版功能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24688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✓  专属1v1顾问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297180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✓  家庭多账号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34747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✓  年度财务体检报告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3977639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✓  优先体验新功能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212080"/>
            <a:ext cx="1737360" cy="64008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257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</a:rPr>
              <a:t>免费体验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39" y="5349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8C42"/>
                </a:solidFill>
                <a:latin typeface="微软雅黑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34639" y="5212080"/>
            <a:ext cx="1737360" cy="64008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34639" y="5257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</a:rPr>
              <a:t>价值验证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5349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8C42"/>
                </a:solidFill>
                <a:latin typeface="微软雅黑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0" y="5212080"/>
            <a:ext cx="1737360" cy="64008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0" y="5257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</a:rPr>
              <a:t>付费转化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5349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8C42"/>
                </a:solidFill>
                <a:latin typeface="微软雅黑"/>
              </a:rPr>
              <a:t>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23759" y="5212080"/>
            <a:ext cx="1737360" cy="64008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23759" y="5257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</a:rPr>
              <a:t>口碑传播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19" y="5349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8C42"/>
                </a:solidFill>
                <a:latin typeface="微软雅黑"/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18319" y="5212080"/>
            <a:ext cx="1737360" cy="64008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19" y="5257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</a:rPr>
              <a:t>更多用户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320040"/>
            <a:ext cx="45720" cy="5943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8254D"/>
                </a:solidFill>
                <a:latin typeface="微软雅黑"/>
              </a:rPr>
              <a:t>产品原型 · 首页 &amp; AI对话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芽计 YaPlan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微软雅黑"/>
              </a:rPr>
              <a:t>产品方案 05/07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71600"/>
            <a:ext cx="2560320" cy="4572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600200"/>
            <a:ext cx="228600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2286000" cy="228600"/>
          </a:xfrm>
          <a:prstGeom prst="rect">
            <a:avLst/>
          </a:prstGeom>
          <a:solidFill>
            <a:srgbClr val="08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1848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微软雅黑"/>
              </a:rPr>
              <a:t>🏠 首页 · Dashboard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59" y="1920240"/>
            <a:ext cx="2194560" cy="54864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9339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教育金健康度 18%  ⚠️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" y="2578608"/>
            <a:ext cx="2194560" cy="54864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6517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本月支出 ¥8,200  焦虑消费31%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" y="3236976"/>
            <a:ext cx="2194560" cy="54864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31012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教育金缺口 ¥36万  立即规划 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" y="3895344"/>
            <a:ext cx="2194560" cy="548640"/>
          </a:xfrm>
          <a:prstGeom prst="rect">
            <a:avLst/>
          </a:prstGeom>
          <a:solidFill>
            <a:srgbClr val="F5F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968496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快速入口：记账 / 规划 / 保险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59" y="4553712"/>
            <a:ext cx="2194560" cy="548640"/>
          </a:xfrm>
          <a:prstGeom prst="rect">
            <a:avLst/>
          </a:prstGeom>
          <a:solidFill>
            <a:srgbClr val="F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626864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宝贝 · 本周财商故事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893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8254D"/>
                </a:solidFill>
                <a:latin typeface="微软雅黑"/>
              </a:rPr>
              <a:t>🏠 首页 · Dashboard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1371600"/>
            <a:ext cx="2560320" cy="4572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66360" y="1600200"/>
            <a:ext cx="228600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66360" y="1600200"/>
            <a:ext cx="2286000" cy="228600"/>
          </a:xfrm>
          <a:prstGeom prst="rect">
            <a:avLst/>
          </a:prstGeom>
          <a:solidFill>
            <a:srgbClr val="08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66360" y="161848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微软雅黑"/>
              </a:rPr>
              <a:t>🤖 AI · 对话规划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12080" y="1920240"/>
            <a:ext cx="2194560" cy="54864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57800" y="199339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你好！我来帮你规划教育金～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12080" y="2578608"/>
            <a:ext cx="2194560" cy="54864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57800" y="26517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孩子几岁？目标出国还是国内？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12080" y="3236976"/>
            <a:ext cx="219456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57800" y="331012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5岁女儿，希望出国留学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2080" y="3895344"/>
            <a:ext cx="2194560" cy="548640"/>
          </a:xfrm>
          <a:prstGeom prst="rect">
            <a:avLst/>
          </a:prstGeom>
          <a:solidFill>
            <a:srgbClr val="F5F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57800" y="3968496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目标¥120万，月投¥4,900起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12080" y="4553712"/>
            <a:ext cx="2194560" cy="548640"/>
          </a:xfrm>
          <a:prstGeom prst="rect">
            <a:avLst/>
          </a:prstGeom>
          <a:solidFill>
            <a:srgbClr val="F5F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57800" y="4626864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相当于每天少一杯奶茶+咖啡 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59893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8254D"/>
                </a:solidFill>
                <a:latin typeface="微软雅黑"/>
              </a:rPr>
              <a:t>🤖 AI · 对话规划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0" y="1645920"/>
            <a:ext cx="182880" cy="18288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03920" y="160020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教育金健康度18%，实时预警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2651760"/>
            <a:ext cx="182880" cy="18288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03920" y="260604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焦虑消费占比31%，红色标注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0" y="3657600"/>
            <a:ext cx="182880" cy="18288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3920" y="361188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7轮对话生成双情景规划报告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0" y="4663440"/>
            <a:ext cx="182880" cy="18288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03920" y="461772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生活化比喻：缺口=360次家庭大餐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320040"/>
            <a:ext cx="45720" cy="5943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8254D"/>
                </a:solidFill>
                <a:latin typeface="微软雅黑"/>
              </a:rPr>
              <a:t>产品原型 · 账单分析 &amp; 教育金规划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芽计 YaPlan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微软雅黑"/>
              </a:rPr>
              <a:t>产品方案 06/07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71600"/>
            <a:ext cx="2560320" cy="4572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600200"/>
            <a:ext cx="228600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2286000" cy="228600"/>
          </a:xfrm>
          <a:prstGeom prst="rect">
            <a:avLst/>
          </a:prstGeom>
          <a:solidFill>
            <a:srgbClr val="08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1848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微软雅黑"/>
              </a:rPr>
              <a:t>💳 账单 · 支出分析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59" y="1920240"/>
            <a:ext cx="2194560" cy="54864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99339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课外班 41% ⚠️ 超均值13%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" y="2578608"/>
            <a:ext cx="2194560" cy="548640"/>
          </a:xfrm>
          <a:prstGeom prst="rect">
            <a:avLst/>
          </a:prstGeom>
          <a:solidFill>
            <a:srgbClr val="F5F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6517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生活必需 28%  餐饮 15%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" y="3236976"/>
            <a:ext cx="2194560" cy="54864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31012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焦虑消费预警：奥数班 ⚠️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" y="3895344"/>
            <a:ext cx="2194560" cy="54864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968496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焦虑消费预警：英语外教 ⚠️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59" y="4553712"/>
            <a:ext cx="2194560" cy="54864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626864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本月节省焦虑支出 ¥2,100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893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8254D"/>
                </a:solidFill>
                <a:latin typeface="微软雅黑"/>
              </a:rPr>
              <a:t>💳 账单 · 支出分析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1371600"/>
            <a:ext cx="2560320" cy="4572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66360" y="1600200"/>
            <a:ext cx="228600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66360" y="1600200"/>
            <a:ext cx="2286000" cy="228600"/>
          </a:xfrm>
          <a:prstGeom prst="rect">
            <a:avLst/>
          </a:prstGeom>
          <a:solidFill>
            <a:srgbClr val="08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66360" y="161848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微软雅黑"/>
              </a:rPr>
              <a:t>📋 规划 · 教育金+保险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12080" y="1920240"/>
            <a:ext cx="2194560" cy="54864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57800" y="199339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教育金  |  保险配置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12080" y="2578608"/>
            <a:ext cx="2194560" cy="548640"/>
          </a:xfrm>
          <a:prstGeom prst="rect">
            <a:avLst/>
          </a:prstGeom>
          <a:solidFill>
            <a:srgbClr val="F5F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57800" y="26517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教育金目标 ¥120万  完成48%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12080" y="3236976"/>
            <a:ext cx="2194560" cy="54864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57800" y="331012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建议月投增至 ¥5,200 (+¥300)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2080" y="3895344"/>
            <a:ext cx="2194560" cy="548640"/>
          </a:xfrm>
          <a:prstGeom prst="rect">
            <a:avLst/>
          </a:prstGeom>
          <a:solidFill>
            <a:srgbClr val="F5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57800" y="3968496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上传保单 → AI解读中…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12080" y="4553712"/>
            <a:ext cx="2194560" cy="54864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57800" y="4626864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重疾保额不足，建议补充¥30万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59893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8254D"/>
                </a:solidFill>
                <a:latin typeface="微软雅黑"/>
              </a:rPr>
              <a:t>📋 规划 · 教育金+保险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0" y="1645920"/>
            <a:ext cx="182880" cy="18288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03920" y="160020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五色饼图：课外班占41%，超均值13%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2651760"/>
            <a:ext cx="182880" cy="18288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03920" y="260604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焦虑识别：奥数班+英语外教双预警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0" y="3657600"/>
            <a:ext cx="182880" cy="18288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3920" y="361188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教育金/保险二级Tab切换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0" y="4663440"/>
            <a:ext cx="182880" cy="18288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03920" y="461772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保单OCR上传，AI解读重疾保额不足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320040"/>
            <a:ext cx="45720" cy="5943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8254D"/>
                </a:solidFill>
                <a:latin typeface="微软雅黑"/>
              </a:rPr>
              <a:t>产品原型 · 财商教育模块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芽计 YaPlan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0" y="137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微软雅黑"/>
              </a:rPr>
              <a:t>产品方案 07/07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2560320" cy="4572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600200"/>
            <a:ext cx="228600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600200"/>
            <a:ext cx="2286000" cy="228600"/>
          </a:xfrm>
          <a:prstGeom prst="rect">
            <a:avLst/>
          </a:prstGeom>
          <a:solidFill>
            <a:srgbClr val="08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61848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微软雅黑"/>
              </a:rPr>
              <a:t>💰 财商教育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1920240"/>
            <a:ext cx="2194560" cy="54864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9339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🫙 三罐子零花钱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78608"/>
            <a:ext cx="2194560" cy="54864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517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自由¥12 储蓄¥6 分享¥2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236976"/>
            <a:ext cx="2194560" cy="548640"/>
          </a:xfrm>
          <a:prstGeom prst="rect">
            <a:avLst/>
          </a:prstGeom>
          <a:solidFill>
            <a:srgbClr val="F5F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31012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✅ 今日任务：整理房间 +¥5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895344"/>
            <a:ext cx="2194560" cy="54864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68496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📖 今日财商故事：懒蚂蚁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553712"/>
            <a:ext cx="2194560" cy="548640"/>
          </a:xfrm>
          <a:prstGeom prst="rect">
            <a:avLst/>
          </a:prstGeom>
          <a:solidFill>
            <a:srgbClr val="FF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626864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  <a:latin typeface="微软雅黑"/>
              </a:rPr>
              <a:t>宝贝成长报告 · 本月 ⭐⭐⭐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9893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8254D"/>
                </a:solidFill>
                <a:latin typeface="微软雅黑"/>
              </a:rPr>
              <a:t>💰 财商教育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1463040"/>
            <a:ext cx="822960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0" y="1463040"/>
            <a:ext cx="91440" cy="13716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0" y="15544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42"/>
                </a:solidFill>
                <a:latin typeface="微软雅黑"/>
              </a:rPr>
              <a:t>🫙 三罐子零花钱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1965960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自由支配罐¥12 / 储蓄罐¥6 / 分享罐¥2</a:t>
            </a:r>
            <a:br/>
            <a:r>
              <a:rPr sz="1100" b="0" i="0">
                <a:solidFill>
                  <a:srgbClr val="333333"/>
                </a:solidFill>
                <a:latin typeface="微软雅黑"/>
              </a:rPr>
              <a:t>6:3:1比例，AI给出参考建议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0" y="2971800"/>
            <a:ext cx="822960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4E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0" y="2971800"/>
            <a:ext cx="91440" cy="1371600"/>
          </a:xfrm>
          <a:prstGeom prst="rect">
            <a:avLst/>
          </a:prstGeom>
          <a:solidFill>
            <a:srgbClr val="4E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0" y="306324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BF8F"/>
                </a:solidFill>
                <a:latin typeface="微软雅黑"/>
              </a:rPr>
              <a:t>✅ 劳动奖励机制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3474720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义务家务不计薪（培养责任）/ 额外任务有报酬</a:t>
            </a:r>
            <a:br/>
            <a:r>
              <a:rPr sz="1100" b="0" i="0">
                <a:solidFill>
                  <a:srgbClr val="333333"/>
                </a:solidFill>
                <a:latin typeface="微软雅黑"/>
              </a:rPr>
              <a:t>财商绘本讲给AI听 +¥10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0" y="4480560"/>
            <a:ext cx="822960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0" y="4480560"/>
            <a:ext cx="91440" cy="137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0" y="457200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  <a:latin typeface="微软雅黑"/>
              </a:rPr>
              <a:t>🤖 AI财商学姐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4983480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发零花钱时推送财商故事</a:t>
            </a:r>
            <a:br/>
            <a:r>
              <a:rPr sz="1100" b="0" i="0">
                <a:solidFill>
                  <a:srgbClr val="333333"/>
                </a:solidFill>
                <a:latin typeface="微软雅黑"/>
              </a:rPr>
              <a:t>月度宝贝成长报告 / 18岁前完成基础财商体系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320040"/>
            <a:ext cx="45720" cy="5943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8254D"/>
                </a:solidFill>
                <a:latin typeface="微软雅黑"/>
              </a:rPr>
              <a:t>关键问题思考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微软雅黑"/>
              </a:rPr>
              <a:t>芽计 YaPlan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105156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91440" cy="14630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19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00000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371600"/>
            <a:ext cx="9326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8254D"/>
                </a:solidFill>
                <a:latin typeface="微软雅黑"/>
              </a:rPr>
              <a:t>数据隐私边界：如何在本地加密与云端AI之间取得平衡？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82880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家庭财务数据极度敏感。芽计的答案：核心数据端侧AES-256加密，AI仅接触脱敏摘要，用户可选择断开云同步。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80360"/>
            <a:ext cx="10515600" cy="1463040"/>
          </a:xfrm>
          <a:prstGeom prst="rect">
            <a:avLst/>
          </a:prstGeom>
          <a:solidFill>
            <a:srgbClr val="FFF9F5"/>
          </a:solidFill>
          <a:ln w="127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80360"/>
            <a:ext cx="91440" cy="146304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2461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8C42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971800"/>
            <a:ext cx="9326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8254D"/>
                </a:solidFill>
                <a:latin typeface="微软雅黑"/>
              </a:rPr>
              <a:t>AI建议的监管合规：财务建议是否构成「投资顾问」？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42900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中国监管对投资建议有严格规定。芽计定位为「决策辅助工具」而非投资顾问，内容经合规审查，核心输出均为信息参考。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10515600" cy="1463040"/>
          </a:xfrm>
          <a:prstGeom prst="rect">
            <a:avLst/>
          </a:prstGeom>
          <a:solidFill>
            <a:srgbClr val="F5FFF8"/>
          </a:solidFill>
          <a:ln w="12700">
            <a:solidFill>
              <a:srgbClr val="4E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480560"/>
            <a:ext cx="91440" cy="1463040"/>
          </a:xfrm>
          <a:prstGeom prst="rect">
            <a:avLst/>
          </a:prstGeom>
          <a:solidFill>
            <a:srgbClr val="4E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8463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4EBF8F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572000"/>
            <a:ext cx="9326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8254D"/>
                </a:solidFill>
                <a:latin typeface="微软雅黑"/>
              </a:rPr>
              <a:t>如何避免成为新的焦虑制造者？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2920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微软雅黑"/>
              </a:rPr>
              <a:t>产品设计第一原则——先帮家长说'不'，再说'怎么做'。月度小报的第一行永远是'本月您帮孩子节省了¥X焦虑消费'。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989320"/>
            <a:ext cx="10515600" cy="502920"/>
          </a:xfrm>
          <a:prstGeom prst="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16752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8254D"/>
                </a:solidFill>
                <a:latin typeface="微软雅黑"/>
              </a:rPr>
              <a:t>"我们相信，最好的财务顾问不是推销产品，而是帮你想清楚。" — 芽计 YaPlan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