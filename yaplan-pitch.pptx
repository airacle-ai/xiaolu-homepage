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56032"/>
            <a:ext cx="36576" cy="566928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241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微软雅黑"/>
              </a:rPr>
              <a:t>产品画布  ·  Lean Canvas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41248"/>
            <a:ext cx="11338560" cy="16459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0" y="201168"/>
            <a:ext cx="1965960" cy="29260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201168"/>
            <a:ext cx="1965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软雅黑"/>
              </a:rPr>
              <a:t>产品画布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052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微软雅黑"/>
              </a:rPr>
              <a:t>01  / 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51052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微软雅黑"/>
              </a:rPr>
              <a:t>芽计  YaPlan</a:t>
            </a:r>
          </a:p>
        </p:txBody>
      </p:sp>
      <p:sp>
        <p:nvSpPr>
          <p:cNvPr id="9" name="Rectangle 8"/>
          <p:cNvSpPr/>
          <p:nvPr/>
        </p:nvSpPr>
        <p:spPr>
          <a:xfrm>
            <a:off x="9966960" y="228600"/>
            <a:ext cx="2011680" cy="27432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966960" y="320040"/>
            <a:ext cx="2011680" cy="27432"/>
          </a:xfrm>
          <a:prstGeom prst="rect">
            <a:avLst/>
          </a:prstGeom>
          <a:solidFill>
            <a:srgbClr val="E74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66960" y="411480"/>
            <a:ext cx="2011680" cy="27432"/>
          </a:xfrm>
          <a:prstGeom prst="rect">
            <a:avLst/>
          </a:prstGeom>
          <a:solidFill>
            <a:srgbClr val="EC7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966960" y="502920"/>
            <a:ext cx="2011680" cy="27432"/>
          </a:xfrm>
          <a:prstGeom prst="rect">
            <a:avLst/>
          </a:prstGeom>
          <a:solidFill>
            <a:srgbClr val="F1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966960" y="594360"/>
            <a:ext cx="2011680" cy="27432"/>
          </a:xfrm>
          <a:prstGeom prst="rect">
            <a:avLst/>
          </a:prstGeom>
          <a:solidFill>
            <a:srgbClr val="F6C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1234440"/>
            <a:ext cx="361188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1234440"/>
            <a:ext cx="3611880" cy="34747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1325880"/>
            <a:ext cx="3374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7A87"/>
                </a:solidFill>
                <a:latin typeface="微软雅黑"/>
              </a:rPr>
              <a:t>🎯  问题与痛点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9496" y="1691640"/>
            <a:ext cx="3374136" cy="1463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" y="1764792"/>
            <a:ext cx="3374136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D4D4D"/>
                </a:solidFill>
                <a:latin typeface="微软雅黑"/>
              </a:rPr>
              <a:t>• ① 教育支出焦虑，缺乏整体规划框架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4D4D4D"/>
                </a:solidFill>
                <a:latin typeface="微软雅黑"/>
              </a:rPr>
              <a:t>• ② 保险配置混乱，面对销售话术无从判断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4D4D4D"/>
                </a:solidFill>
                <a:latin typeface="微软雅黑"/>
              </a:rPr>
              <a:t>• ③ 焦虑型课外消费泛滥，38% 属情绪驱动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4D4D4D"/>
                </a:solidFill>
                <a:latin typeface="微软雅黑"/>
              </a:rPr>
              <a:t>• ④ 零花钱给了，却不知如何引导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23360" y="1234440"/>
            <a:ext cx="14630" cy="512064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24528" y="1234440"/>
            <a:ext cx="361188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24528" y="1234440"/>
            <a:ext cx="3611880" cy="34747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1325880"/>
            <a:ext cx="3374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2231A"/>
                </a:solidFill>
                <a:latin typeface="微软雅黑"/>
              </a:rPr>
              <a:t>💡  解决方案（攒·保·理·教）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52544" y="1691640"/>
            <a:ext cx="3374136" cy="1463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1764792"/>
            <a:ext cx="3374136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D4D4D"/>
                </a:solidFill>
                <a:latin typeface="微软雅黑"/>
              </a:rPr>
              <a:t>• 攒  AI双情景教育金测算与定投计划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4D4D4D"/>
                </a:solidFill>
                <a:latin typeface="微软雅黑"/>
              </a:rPr>
              <a:t>• 保  保单OCR解读，非销售保险配置建议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4D4D4D"/>
                </a:solidFill>
                <a:latin typeface="微软雅黑"/>
              </a:rPr>
              <a:t>• 理  多模态记账+焦虑消费3层检测+冷静期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4D4D4D"/>
                </a:solidFill>
                <a:latin typeface="微软雅黑"/>
              </a:rPr>
              <a:t>• 教  三罐子零花钱+劳动奖励+财商小课堂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36408" y="1234440"/>
            <a:ext cx="14630" cy="512064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28431" y="1234440"/>
            <a:ext cx="361188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28431" y="1234440"/>
            <a:ext cx="3611880" cy="34747"/>
          </a:xfrm>
          <a:prstGeom prst="rect">
            <a:avLst/>
          </a:prstGeom>
          <a:solidFill>
            <a:srgbClr val="2D9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93023" y="1325880"/>
            <a:ext cx="3374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D9C65"/>
                </a:solidFill>
                <a:latin typeface="微软雅黑"/>
              </a:rPr>
              <a:t>✦  独特价值主张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56448" y="1691640"/>
            <a:ext cx="3374136" cy="1463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93023" y="1764792"/>
            <a:ext cx="3374136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D4D4D"/>
                </a:solidFill>
                <a:latin typeface="微软雅黑"/>
              </a:rPr>
              <a:t>• "第一个对你说「不」的财务顾问"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4D4D4D"/>
                </a:solidFill>
                <a:latin typeface="微软雅黑"/>
              </a:rPr>
              <a:t>• 纯规划、不销售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4D4D4D"/>
                </a:solidFill>
                <a:latin typeface="微软雅黑"/>
              </a:rPr>
              <a:t>• 焦虑消费识别（行业首创）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4D4D4D"/>
                </a:solidFill>
                <a:latin typeface="微软雅黑"/>
              </a:rPr>
              <a:t>• 生活化比喻翻译金融术语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4D4D4D"/>
                </a:solidFill>
                <a:latin typeface="微软雅黑"/>
              </a:rPr>
              <a:t>• 0–18 岁全周期陪伴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6382512"/>
            <a:ext cx="3611880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1480" y="6382512"/>
            <a:ext cx="36576" cy="36576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1208" y="6400800"/>
            <a:ext cx="3429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微软雅黑"/>
              </a:rPr>
              <a:t>用户  0–18 岁子女城市中产家庭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24528" y="6382512"/>
            <a:ext cx="3611880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24528" y="6382512"/>
            <a:ext cx="36576" cy="365760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34256" y="6400800"/>
            <a:ext cx="3429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微软雅黑"/>
              </a:rPr>
              <a:t>商业模式  Freemium  ¥99–199 / 月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28431" y="6382512"/>
            <a:ext cx="3611880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28431" y="6382512"/>
            <a:ext cx="36576" cy="365760"/>
          </a:xfrm>
          <a:prstGeom prst="rect">
            <a:avLst/>
          </a:prstGeom>
          <a:solidFill>
            <a:srgbClr val="2D9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38159" y="6400800"/>
            <a:ext cx="3429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微软雅黑"/>
              </a:rPr>
              <a:t>技术  Claude API · 多模态OCR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56032"/>
            <a:ext cx="36576" cy="566928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241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微软雅黑"/>
              </a:rPr>
              <a:t>用户需求分析  ·  三阶段家庭画像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41248"/>
            <a:ext cx="11338560" cy="16459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0" y="201168"/>
            <a:ext cx="1965960" cy="29260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201168"/>
            <a:ext cx="1965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软雅黑"/>
              </a:rPr>
              <a:t>用户研究  01/03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052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微软雅黑"/>
              </a:rPr>
              <a:t>02  / 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51052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微软雅黑"/>
              </a:rPr>
              <a:t>芽计  YaPlan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207008"/>
            <a:ext cx="3611880" cy="45720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1216152"/>
            <a:ext cx="340156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微软雅黑"/>
              </a:rPr>
              <a:t>新生期  0–3岁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664208"/>
            <a:ext cx="3611880" cy="4626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1737360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  <a:latin typeface="微软雅黑"/>
              </a:rPr>
              <a:t>25–35岁双职工，月入 1.5–4 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6" y="2066543"/>
            <a:ext cx="3364992" cy="1463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213969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微软雅黑"/>
              </a:rPr>
              <a:t>核心痛点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2432304"/>
            <a:ext cx="32918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D4D4D"/>
                </a:solidFill>
                <a:latin typeface="微软雅黑"/>
              </a:rPr>
              <a:t>→  早教课值不值？被销售话术困扰</a:t>
            </a:r>
          </a:p>
          <a:p>
            <a:pPr algn="l">
              <a:spcBef>
                <a:spcPts val="300"/>
              </a:spcBef>
            </a:pPr>
            <a:r>
              <a:rPr sz="1350" b="0">
                <a:solidFill>
                  <a:srgbClr val="4D4D4D"/>
                </a:solidFill>
                <a:latin typeface="微软雅黑"/>
              </a:rPr>
              <a:t>→  保险该买哪些？配置从何判断</a:t>
            </a:r>
          </a:p>
          <a:p>
            <a:pPr algn="l">
              <a:spcBef>
                <a:spcPts val="300"/>
              </a:spcBef>
            </a:pPr>
            <a:r>
              <a:rPr sz="1350" b="0">
                <a:solidFill>
                  <a:srgbClr val="4D4D4D"/>
                </a:solidFill>
                <a:latin typeface="微软雅黑"/>
              </a:rPr>
              <a:t>→  教育金何时开始、怎么存最科学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9496" y="4160520"/>
            <a:ext cx="3364992" cy="1463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" y="422452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微软雅黑"/>
              </a:rPr>
              <a:t>月均教育支出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" y="4498848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900" b="1" i="0">
                <a:solidFill>
                  <a:srgbClr val="007A87"/>
                </a:solidFill>
                <a:latin typeface="微软雅黑"/>
              </a:rPr>
              <a:t>¥3,200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23360" y="1207008"/>
            <a:ext cx="14630" cy="5084064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24528" y="1207008"/>
            <a:ext cx="3611880" cy="457200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34256" y="1216152"/>
            <a:ext cx="340156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微软雅黑"/>
              </a:rPr>
              <a:t>成长期  4–12岁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24528" y="1664208"/>
            <a:ext cx="3611880" cy="4626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1737360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  <a:latin typeface="微软雅黑"/>
              </a:rPr>
              <a:t>30–42岁中产，月入 2.5–8 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52544" y="2066543"/>
            <a:ext cx="3364992" cy="1463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213969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微软雅黑"/>
              </a:rPr>
              <a:t>核心痛点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2432304"/>
            <a:ext cx="32918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D4D4D"/>
                </a:solidFill>
                <a:latin typeface="微软雅黑"/>
              </a:rPr>
              <a:t>→  课外班军备竞赛，月花 8,000+</a:t>
            </a:r>
          </a:p>
          <a:p>
            <a:pPr algn="l">
              <a:spcBef>
                <a:spcPts val="300"/>
              </a:spcBef>
            </a:pPr>
            <a:r>
              <a:rPr sz="1350" b="0">
                <a:solidFill>
                  <a:srgbClr val="4D4D4D"/>
                </a:solidFill>
                <a:latin typeface="微软雅黑"/>
              </a:rPr>
              <a:t>→  教育金储备进度严重滞后</a:t>
            </a:r>
          </a:p>
          <a:p>
            <a:pPr algn="l">
              <a:spcBef>
                <a:spcPts val="300"/>
              </a:spcBef>
            </a:pPr>
            <a:r>
              <a:rPr sz="1350" b="0">
                <a:solidFill>
                  <a:srgbClr val="4D4D4D"/>
                </a:solidFill>
                <a:latin typeface="微软雅黑"/>
              </a:rPr>
              <a:t>→  同伴压力导致盲目跟风报班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52544" y="4160520"/>
            <a:ext cx="3364992" cy="1463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0" y="422452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微软雅黑"/>
              </a:rPr>
              <a:t>月均教育支出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4498848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900" b="1" i="0">
                <a:solidFill>
                  <a:srgbClr val="E2231A"/>
                </a:solidFill>
                <a:latin typeface="微软雅黑"/>
              </a:rPr>
              <a:t>¥6,800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36408" y="1207008"/>
            <a:ext cx="14630" cy="5084064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28431" y="1207008"/>
            <a:ext cx="3611880" cy="457200"/>
          </a:xfrm>
          <a:prstGeom prst="rect">
            <a:avLst/>
          </a:prstGeom>
          <a:solidFill>
            <a:srgbClr val="D4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38159" y="1216152"/>
            <a:ext cx="340156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微软雅黑"/>
              </a:rPr>
              <a:t>冲刺期  13–18岁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28431" y="1664208"/>
            <a:ext cx="3611880" cy="4626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93023" y="1737360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  <a:latin typeface="微软雅黑"/>
              </a:rPr>
              <a:t>40–52岁，月入 4–12 万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56448" y="2066543"/>
            <a:ext cx="3364992" cy="1463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93023" y="213969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微软雅黑"/>
              </a:rPr>
              <a:t>核心痛点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93023" y="2432304"/>
            <a:ext cx="32918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D4D4D"/>
                </a:solidFill>
                <a:latin typeface="微软雅黑"/>
              </a:rPr>
              <a:t>→  出国 vs 国内？200–500 万差距</a:t>
            </a:r>
          </a:p>
          <a:p>
            <a:pPr algn="l">
              <a:spcBef>
                <a:spcPts val="300"/>
              </a:spcBef>
            </a:pPr>
            <a:r>
              <a:rPr sz="1350" b="0">
                <a:solidFill>
                  <a:srgbClr val="4D4D4D"/>
                </a:solidFill>
                <a:latin typeface="微软雅黑"/>
              </a:rPr>
              <a:t>→  留学费用无独立测算工具</a:t>
            </a:r>
          </a:p>
          <a:p>
            <a:pPr algn="l">
              <a:spcBef>
                <a:spcPts val="300"/>
              </a:spcBef>
            </a:pPr>
            <a:r>
              <a:rPr sz="1350" b="0">
                <a:solidFill>
                  <a:srgbClr val="4D4D4D"/>
                </a:solidFill>
                <a:latin typeface="微软雅黑"/>
              </a:rPr>
              <a:t>→  资产不动产化，流动性不足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56448" y="4160520"/>
            <a:ext cx="3364992" cy="1463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93023" y="422452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微软雅黑"/>
              </a:rPr>
              <a:t>月均教育支出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93023" y="4498848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900" b="1" i="0">
                <a:solidFill>
                  <a:srgbClr val="D48B00"/>
                </a:solidFill>
                <a:latin typeface="微软雅黑"/>
              </a:rPr>
              <a:t>¥12,400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56032"/>
            <a:ext cx="36576" cy="566928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241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微软雅黑"/>
              </a:rPr>
              <a:t>用户需求分析  ·  焦虑型消费识别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41248"/>
            <a:ext cx="11338560" cy="16459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0" y="201168"/>
            <a:ext cx="1965960" cy="29260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201168"/>
            <a:ext cx="1965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软雅黑"/>
              </a:rPr>
              <a:t>用户研究  02/03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052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微软雅黑"/>
              </a:rPr>
              <a:t>03  / 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51052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微软雅黑"/>
              </a:rPr>
              <a:t>芽计  YaPlan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207008"/>
            <a:ext cx="3794760" cy="13533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207008"/>
            <a:ext cx="3794760" cy="27432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" y="1298448"/>
            <a:ext cx="3657600" cy="744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900" b="1" i="0">
                <a:solidFill>
                  <a:srgbClr val="E2231A"/>
                </a:solidFill>
                <a:latin typeface="微软雅黑"/>
              </a:rPr>
              <a:t>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" y="193779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D4D4D"/>
                </a:solidFill>
                <a:latin typeface="微软雅黑"/>
              </a:rPr>
              <a:t>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" y="2181392"/>
            <a:ext cx="3657600" cy="351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  <a:latin typeface="微软雅黑"/>
              </a:rPr>
              <a:t>育儿支出属焦虑驱动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34256" y="1207008"/>
            <a:ext cx="3794760" cy="13533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34256" y="1207008"/>
            <a:ext cx="3794760" cy="27432"/>
          </a:xfrm>
          <a:prstGeom prst="rect">
            <a:avLst/>
          </a:prstGeom>
          <a:solidFill>
            <a:srgbClr val="D4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43984" y="1298448"/>
            <a:ext cx="3657600" cy="744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900" b="1" i="0">
                <a:solidFill>
                  <a:srgbClr val="D48B00"/>
                </a:solidFill>
                <a:latin typeface="微软雅黑"/>
              </a:rPr>
              <a:t>87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984" y="193779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D4D4D"/>
                </a:solidFill>
                <a:latin typeface="微软雅黑"/>
              </a:rPr>
              <a:t>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2181392"/>
            <a:ext cx="3657600" cy="351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  <a:latin typeface="微软雅黑"/>
              </a:rPr>
              <a:t>报名后曾后悔的课程占比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57031" y="1207008"/>
            <a:ext cx="3794760" cy="13533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57031" y="1207008"/>
            <a:ext cx="3794760" cy="27432"/>
          </a:xfrm>
          <a:prstGeom prst="rect">
            <a:avLst/>
          </a:prstGeom>
          <a:solidFill>
            <a:srgbClr val="2D9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59" y="1298448"/>
            <a:ext cx="3657600" cy="744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900" b="1" i="0">
                <a:solidFill>
                  <a:srgbClr val="2D9C65"/>
                </a:solidFill>
                <a:latin typeface="微软雅黑"/>
              </a:rPr>
              <a:t>2,100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59" y="193779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D4D4D"/>
                </a:solidFill>
                <a:latin typeface="微软雅黑"/>
              </a:rPr>
              <a:t>元/月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59" y="2181392"/>
            <a:ext cx="3657600" cy="351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  <a:latin typeface="微软雅黑"/>
              </a:rPr>
              <a:t>芽计用户月均识别的焦虑消费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2724912"/>
            <a:ext cx="11365992" cy="1463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2816352"/>
            <a:ext cx="32004" cy="292608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2825496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微软雅黑"/>
              </a:rPr>
              <a:t>❌  焦虑驱动型消费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3118104"/>
            <a:ext cx="5303520" cy="1463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" y="3163824"/>
            <a:ext cx="5303520" cy="3127248"/>
          </a:xfrm>
          <a:prstGeom prst="rect">
            <a:avLst/>
          </a:prstGeom>
          <a:solidFill>
            <a:srgbClr val="FF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3163824"/>
            <a:ext cx="36576" cy="3127248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255264"/>
            <a:ext cx="504748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D4D4D"/>
                </a:solidFill>
                <a:latin typeface="微软雅黑"/>
              </a:rPr>
              <a:t>•  看到 KOL 推荐，冲动下单</a:t>
            </a:r>
          </a:p>
          <a:p>
            <a:pPr algn="l">
              <a:spcBef>
                <a:spcPts val="500"/>
              </a:spcBef>
            </a:pPr>
            <a:r>
              <a:rPr sz="1500" b="0">
                <a:solidFill>
                  <a:srgbClr val="4D4D4D"/>
                </a:solidFill>
                <a:latin typeface="微软雅黑"/>
              </a:rPr>
              <a:t>•  听说别人家孩子都在学</a:t>
            </a:r>
          </a:p>
          <a:p>
            <a:pPr algn="l">
              <a:spcBef>
                <a:spcPts val="500"/>
              </a:spcBef>
            </a:pPr>
            <a:r>
              <a:rPr sz="1500" b="0">
                <a:solidFill>
                  <a:srgbClr val="4D4D4D"/>
                </a:solidFill>
                <a:latin typeface="微软雅黑"/>
              </a:rPr>
              <a:t>•  周末深夜突击报班</a:t>
            </a:r>
          </a:p>
          <a:p>
            <a:pPr algn="l">
              <a:spcBef>
                <a:spcPts val="500"/>
              </a:spcBef>
            </a:pPr>
            <a:r>
              <a:rPr sz="1500" b="0">
                <a:solidFill>
                  <a:srgbClr val="4D4D4D"/>
                </a:solidFill>
                <a:latin typeface="微软雅黑"/>
              </a:rPr>
              <a:t>•  无 ROI 评估，跟风即买</a:t>
            </a:r>
          </a:p>
          <a:p>
            <a:pPr algn="l">
              <a:spcBef>
                <a:spcPts val="500"/>
              </a:spcBef>
            </a:pPr>
            <a:r>
              <a:rPr sz="1500" b="0">
                <a:solidFill>
                  <a:srgbClr val="4D4D4D"/>
                </a:solidFill>
                <a:latin typeface="微软雅黑"/>
              </a:rPr>
              <a:t>•  孩子不感兴趣，仍续费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15584" y="3163824"/>
            <a:ext cx="713232" cy="3127248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15584" y="3401568"/>
            <a:ext cx="71323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/>
              </a:rPr>
              <a:t>芽</a:t>
            </a:r>
            <a:br/>
            <a:r>
              <a:rPr sz="1600" b="1" i="0">
                <a:solidFill>
                  <a:srgbClr val="FFFFFF"/>
                </a:solidFill>
                <a:latin typeface="微软雅黑"/>
              </a:rPr>
              <a:t>计</a:t>
            </a:r>
            <a:br/>
            <a:r>
              <a:rPr sz="1600" b="1" i="0">
                <a:solidFill>
                  <a:srgbClr val="FFFFFF"/>
                </a:solidFill>
                <a:latin typeface="微软雅黑"/>
              </a:rPr>
              <a:t>识</a:t>
            </a:r>
            <a:br/>
            <a:r>
              <a:rPr sz="1600" b="1" i="0">
                <a:solidFill>
                  <a:srgbClr val="FFFFFF"/>
                </a:solidFill>
                <a:latin typeface="微软雅黑"/>
              </a:rPr>
              <a:t>别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20256" y="2816352"/>
            <a:ext cx="32004" cy="292608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11696" y="282549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微软雅黑"/>
              </a:rPr>
              <a:t>✅  理性规划型消费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20256" y="3118104"/>
            <a:ext cx="5166360" cy="1463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620256" y="3163824"/>
            <a:ext cx="5157216" cy="3127248"/>
          </a:xfrm>
          <a:prstGeom prst="rect">
            <a:avLst/>
          </a:prstGeom>
          <a:solidFill>
            <a:srgbClr val="F4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620256" y="3163824"/>
            <a:ext cx="36576" cy="3127248"/>
          </a:xfrm>
          <a:prstGeom prst="rect">
            <a:avLst/>
          </a:prstGeom>
          <a:solidFill>
            <a:srgbClr val="2D9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66560" y="3255264"/>
            <a:ext cx="4901184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D4D4D"/>
                </a:solidFill>
                <a:latin typeface="微软雅黑"/>
              </a:rPr>
              <a:t>•  基于孩子兴趣和意愿决策</a:t>
            </a:r>
          </a:p>
          <a:p>
            <a:pPr algn="l">
              <a:spcBef>
                <a:spcPts val="500"/>
              </a:spcBef>
            </a:pPr>
            <a:r>
              <a:rPr sz="1500" b="0">
                <a:solidFill>
                  <a:srgbClr val="4D4D4D"/>
                </a:solidFill>
                <a:latin typeface="微软雅黑"/>
              </a:rPr>
              <a:t>•  有明确学习目标和退出机制</a:t>
            </a:r>
          </a:p>
          <a:p>
            <a:pPr algn="l">
              <a:spcBef>
                <a:spcPts val="500"/>
              </a:spcBef>
            </a:pPr>
            <a:r>
              <a:rPr sz="1500" b="0">
                <a:solidFill>
                  <a:srgbClr val="4D4D4D"/>
                </a:solidFill>
                <a:latin typeface="微软雅黑"/>
              </a:rPr>
              <a:t>•  评估性价比后理性决定</a:t>
            </a:r>
          </a:p>
          <a:p>
            <a:pPr algn="l">
              <a:spcBef>
                <a:spcPts val="500"/>
              </a:spcBef>
            </a:pPr>
            <a:r>
              <a:rPr sz="1500" b="0">
                <a:solidFill>
                  <a:srgbClr val="4D4D4D"/>
                </a:solidFill>
                <a:latin typeface="微软雅黑"/>
              </a:rPr>
              <a:t>•  定期复盘课程出勤与效果</a:t>
            </a:r>
          </a:p>
          <a:p>
            <a:pPr algn="l">
              <a:spcBef>
                <a:spcPts val="500"/>
              </a:spcBef>
            </a:pPr>
            <a:r>
              <a:rPr sz="1500" b="0">
                <a:solidFill>
                  <a:srgbClr val="4D4D4D"/>
                </a:solidFill>
                <a:latin typeface="微软雅黑"/>
              </a:rPr>
              <a:t>•  纳入家庭月度预算管控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64008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8888"/>
                </a:solidFill>
                <a:latin typeface="微软雅黑"/>
              </a:rPr>
              <a:t>芽计通过  行为信号  ×  NLP语义情绪  ×  综合评分  三层机制，在消费决策前给出理性提醒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56032"/>
            <a:ext cx="36576" cy="566928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241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微软雅黑"/>
              </a:rPr>
              <a:t>用户需求分析  ·  市场规模与机会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41248"/>
            <a:ext cx="11338560" cy="16459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0" y="201168"/>
            <a:ext cx="1965960" cy="29260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201168"/>
            <a:ext cx="1965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软雅黑"/>
              </a:rPr>
              <a:t>用户研究  03/03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052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微软雅黑"/>
              </a:rPr>
              <a:t>04  / 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51052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微软雅黑"/>
              </a:rPr>
              <a:t>芽计  YaPlan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207008"/>
            <a:ext cx="7406640" cy="5193792"/>
          </a:xfrm>
          <a:prstGeom prst="rect">
            <a:avLst/>
          </a:prstGeom>
          <a:solidFill>
            <a:srgbClr val="F0F4FF"/>
          </a:solidFill>
          <a:ln w="1016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316736"/>
            <a:ext cx="7132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A87"/>
                </a:solidFill>
                <a:latin typeface="微软雅黑"/>
              </a:rPr>
              <a:t>TAM  总市场：2.1 亿有子女家庭  /  潜在规模 ¥6,300 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1737360"/>
            <a:ext cx="6400800" cy="4133087"/>
          </a:xfrm>
          <a:prstGeom prst="rect">
            <a:avLst/>
          </a:prstGeom>
          <a:solidFill>
            <a:srgbClr val="FFF5F4"/>
          </a:solidFill>
          <a:ln w="10160">
            <a:solidFill>
              <a:srgbClr val="E223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1847088"/>
            <a:ext cx="6126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2231A"/>
                </a:solidFill>
                <a:latin typeface="微软雅黑"/>
              </a:rPr>
              <a:t>SAM  可触达：4,200 万城市中产家庭  /  ¥1,260 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54480" y="2331720"/>
            <a:ext cx="5120640" cy="2944368"/>
          </a:xfrm>
          <a:prstGeom prst="rect">
            <a:avLst/>
          </a:prstGeom>
          <a:solidFill>
            <a:srgbClr val="F4FBF6"/>
          </a:solidFill>
          <a:ln w="10160">
            <a:solidFill>
              <a:srgbClr val="2D9C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37360" y="2441448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9C65"/>
                </a:solidFill>
                <a:latin typeface="微软雅黑"/>
              </a:rPr>
              <a:t>SOM  3年目标：210 万家庭  /  ¥6.3 亿 ARR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36992" y="1207008"/>
            <a:ext cx="4114800" cy="27432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36992" y="2505456"/>
            <a:ext cx="4114800" cy="1463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9" y="1371600"/>
            <a:ext cx="3977639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900" b="1" i="0">
                <a:solidFill>
                  <a:srgbClr val="E2231A"/>
                </a:solidFill>
                <a:latin typeface="微软雅黑"/>
              </a:rPr>
              <a:t>68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9" y="1922068"/>
            <a:ext cx="3977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D4D4D"/>
                </a:solidFill>
                <a:latin typeface="微软雅黑"/>
              </a:rPr>
              <a:t>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9" y="2136038"/>
            <a:ext cx="3977639" cy="309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  <a:latin typeface="微软雅黑"/>
              </a:rPr>
              <a:t>受访家长缺乏系统财务规划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36992" y="3803904"/>
            <a:ext cx="4114800" cy="1463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9" y="2670048"/>
            <a:ext cx="3977639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900" b="1" i="0">
                <a:solidFill>
                  <a:srgbClr val="007A87"/>
                </a:solidFill>
                <a:latin typeface="微软雅黑"/>
              </a:rPr>
              <a:t>3.2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9" y="3220516"/>
            <a:ext cx="3977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D4D4D"/>
                </a:solidFill>
                <a:latin typeface="微软雅黑"/>
              </a:rPr>
              <a:t>万元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3434486"/>
            <a:ext cx="3977639" cy="309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  <a:latin typeface="微软雅黑"/>
              </a:rPr>
              <a:t>城市家庭年均课外教育支出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36992" y="5102352"/>
            <a:ext cx="4114800" cy="1463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19" y="3968496"/>
            <a:ext cx="3977639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900" b="1" i="0">
                <a:solidFill>
                  <a:srgbClr val="2D9C65"/>
                </a:solidFill>
                <a:latin typeface="微软雅黑"/>
              </a:rPr>
              <a:t>92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9" y="4518964"/>
            <a:ext cx="3977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D4D4D"/>
                </a:solidFill>
                <a:latin typeface="微软雅黑"/>
              </a:rPr>
              <a:t>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19" y="4732934"/>
            <a:ext cx="3977639" cy="309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  <a:latin typeface="微软雅黑"/>
              </a:rPr>
              <a:t>愿为精准规划付费的家长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19" y="5266944"/>
            <a:ext cx="3977639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900" b="1" i="0">
                <a:solidFill>
                  <a:srgbClr val="D48B00"/>
                </a:solidFill>
                <a:latin typeface="微软雅黑"/>
              </a:rPr>
              <a:t>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19" y="5817412"/>
            <a:ext cx="3977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D4D4D"/>
                </a:solidFill>
                <a:latin typeface="微软雅黑"/>
              </a:rPr>
              <a:t>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19" y="6031382"/>
            <a:ext cx="3977639" cy="309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  <a:latin typeface="微软雅黑"/>
              </a:rPr>
              <a:t>单用户周期  ·  LTV ≈ ¥3,582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微软雅黑"/>
              </a:rPr>
              <a:t>数据来源：艾瑞咨询 2025  /  国家统计局  /  CFPS 家庭追踪调查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56032"/>
            <a:ext cx="36576" cy="566928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241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微软雅黑"/>
              </a:rPr>
              <a:t>产品方案  ·  攒·保·理·教  四模块定位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41248"/>
            <a:ext cx="11338560" cy="16459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0" y="201168"/>
            <a:ext cx="1965960" cy="29260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201168"/>
            <a:ext cx="1965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软雅黑"/>
              </a:rPr>
              <a:t>产品方案  01/07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052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微软雅黑"/>
              </a:rPr>
              <a:t>05  / 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51052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微软雅黑"/>
              </a:rPr>
              <a:t>芽计  YaPlan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207008"/>
            <a:ext cx="11365992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207008"/>
            <a:ext cx="36576" cy="365760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216152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微软雅黑"/>
              </a:rPr>
              <a:t>所有功能通过对话式 AI 串联  ·  角色定位：🏥 家庭财务医生（客观专业）× 👩‍🎓 成长陪伴学姐（温暖懂孩子）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691640"/>
            <a:ext cx="5742432" cy="2322576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1691640"/>
            <a:ext cx="5742432" cy="2926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1783080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微软雅黑"/>
              </a:rPr>
              <a:t>📈  攒  ·  教育金规划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9496" y="2112264"/>
            <a:ext cx="5504688" cy="1463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2167128"/>
            <a:ext cx="5486400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D4D4D"/>
                </a:solidFill>
                <a:latin typeface="微软雅黑"/>
              </a:rPr>
              <a:t>PMT 公式精准测算教育金缺口</a:t>
            </a:r>
          </a:p>
          <a:p>
            <a:pPr algn="l">
              <a:spcBef>
                <a:spcPts val="300"/>
              </a:spcBef>
            </a:pPr>
            <a:r>
              <a:rPr sz="1400" b="0">
                <a:solidFill>
                  <a:srgbClr val="4D4D4D"/>
                </a:solidFill>
                <a:latin typeface="微软雅黑"/>
              </a:rPr>
              <a:t>双情景：国内 ¥45 万  /  出国 ¥120 万</a:t>
            </a:r>
          </a:p>
          <a:p>
            <a:pPr algn="l">
              <a:spcBef>
                <a:spcPts val="300"/>
              </a:spcBef>
            </a:pPr>
            <a:r>
              <a:rPr sz="1400" b="0">
                <a:solidFill>
                  <a:srgbClr val="4D4D4D"/>
                </a:solidFill>
                <a:latin typeface="微软雅黑"/>
              </a:rPr>
              <a:t>开学季动态校准，每年复盘调整</a:t>
            </a:r>
          </a:p>
          <a:p>
            <a:pPr algn="l">
              <a:spcBef>
                <a:spcPts val="300"/>
              </a:spcBef>
            </a:pPr>
            <a:r>
              <a:rPr sz="1400" b="0">
                <a:solidFill>
                  <a:srgbClr val="4D4D4D"/>
                </a:solidFill>
                <a:latin typeface="微软雅黑"/>
              </a:rPr>
              <a:t>比喻：¥36 万缺口 = 360 次家庭大餐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91072" y="1691640"/>
            <a:ext cx="5742432" cy="2322576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91072" y="1691640"/>
            <a:ext cx="5742432" cy="29260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5664" y="1783080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微软雅黑"/>
              </a:rPr>
              <a:t>🛡️  保  ·  保险配置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19088" y="2112264"/>
            <a:ext cx="5504688" cy="1463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5664" y="2167128"/>
            <a:ext cx="5486400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D4D4D"/>
                </a:solidFill>
                <a:latin typeface="微软雅黑"/>
              </a:rPr>
              <a:t>保单 OCR 解读关键条款</a:t>
            </a:r>
          </a:p>
          <a:p>
            <a:pPr algn="l">
              <a:spcBef>
                <a:spcPts val="300"/>
              </a:spcBef>
            </a:pPr>
            <a:r>
              <a:rPr sz="1400" b="0">
                <a:solidFill>
                  <a:srgbClr val="4D4D4D"/>
                </a:solidFill>
                <a:latin typeface="微软雅黑"/>
              </a:rPr>
              <a:t>先大人后小孩配置优先级</a:t>
            </a:r>
          </a:p>
          <a:p>
            <a:pPr algn="l">
              <a:spcBef>
                <a:spcPts val="300"/>
              </a:spcBef>
            </a:pPr>
            <a:r>
              <a:rPr sz="1400" b="0">
                <a:solidFill>
                  <a:srgbClr val="4D4D4D"/>
                </a:solidFill>
                <a:latin typeface="微软雅黑"/>
              </a:rPr>
              <a:t>非销售承诺，只分析不导流</a:t>
            </a:r>
          </a:p>
          <a:p>
            <a:pPr algn="l">
              <a:spcBef>
                <a:spcPts val="300"/>
              </a:spcBef>
            </a:pPr>
            <a:r>
              <a:rPr sz="1400" b="0">
                <a:solidFill>
                  <a:srgbClr val="4D4D4D"/>
                </a:solidFill>
                <a:latin typeface="微软雅黑"/>
              </a:rPr>
              <a:t>通俗险种比喻库，拒绝行话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160520"/>
            <a:ext cx="5742432" cy="2322576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4160520"/>
            <a:ext cx="5742432" cy="29260"/>
          </a:xfrm>
          <a:prstGeom prst="rect">
            <a:avLst/>
          </a:prstGeom>
          <a:solidFill>
            <a:srgbClr val="D4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" y="4251959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微软雅黑"/>
              </a:rPr>
              <a:t>💸  理  ·  支出管理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9496" y="4581144"/>
            <a:ext cx="5504688" cy="1463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" y="4636008"/>
            <a:ext cx="5486400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D4D4D"/>
                </a:solidFill>
                <a:latin typeface="微软雅黑"/>
              </a:rPr>
              <a:t>拍票据 / 截图 / 语音多模态记账</a:t>
            </a:r>
          </a:p>
          <a:p>
            <a:pPr algn="l">
              <a:spcBef>
                <a:spcPts val="300"/>
              </a:spcBef>
            </a:pPr>
            <a:r>
              <a:rPr sz="1400" b="0">
                <a:solidFill>
                  <a:srgbClr val="4D4D4D"/>
                </a:solidFill>
                <a:latin typeface="微软雅黑"/>
              </a:rPr>
              <a:t>3 层焦虑消费检测引擎（行业首创）</a:t>
            </a:r>
          </a:p>
          <a:p>
            <a:pPr algn="l">
              <a:spcBef>
                <a:spcPts val="300"/>
              </a:spcBef>
            </a:pPr>
            <a:r>
              <a:rPr sz="1400" b="0">
                <a:solidFill>
                  <a:srgbClr val="4D4D4D"/>
                </a:solidFill>
                <a:latin typeface="微软雅黑"/>
              </a:rPr>
              <a:t>24 h 购物车冷静期机制</a:t>
            </a:r>
          </a:p>
          <a:p>
            <a:pPr algn="l">
              <a:spcBef>
                <a:spcPts val="300"/>
              </a:spcBef>
            </a:pPr>
            <a:r>
              <a:rPr sz="1400" b="0">
                <a:solidFill>
                  <a:srgbClr val="4D4D4D"/>
                </a:solidFill>
                <a:latin typeface="微软雅黑"/>
              </a:rPr>
              <a:t>兴趣班 ROI 热力表可视化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91072" y="4160520"/>
            <a:ext cx="5742432" cy="2322576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91072" y="4160520"/>
            <a:ext cx="5742432" cy="29260"/>
          </a:xfrm>
          <a:prstGeom prst="rect">
            <a:avLst/>
          </a:prstGeom>
          <a:solidFill>
            <a:srgbClr val="2D9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55664" y="4251959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微软雅黑"/>
              </a:rPr>
              <a:t>💰  教  ·  财商教育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19088" y="4581144"/>
            <a:ext cx="5504688" cy="1463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55664" y="4636008"/>
            <a:ext cx="5486400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D4D4D"/>
                </a:solidFill>
                <a:latin typeface="微软雅黑"/>
              </a:rPr>
              <a:t>三罐子零花钱模型（自由/储蓄/分享）</a:t>
            </a:r>
          </a:p>
          <a:p>
            <a:pPr algn="l">
              <a:spcBef>
                <a:spcPts val="300"/>
              </a:spcBef>
            </a:pPr>
            <a:r>
              <a:rPr sz="1400" b="0">
                <a:solidFill>
                  <a:srgbClr val="4D4D4D"/>
                </a:solidFill>
                <a:latin typeface="微软雅黑"/>
              </a:rPr>
              <a:t>义务家务 vs 额外任务劳动机制</a:t>
            </a:r>
          </a:p>
          <a:p>
            <a:pPr algn="l">
              <a:spcBef>
                <a:spcPts val="300"/>
              </a:spcBef>
            </a:pPr>
            <a:r>
              <a:rPr sz="1400" b="0">
                <a:solidFill>
                  <a:srgbClr val="4D4D4D"/>
                </a:solidFill>
                <a:latin typeface="微软雅黑"/>
              </a:rPr>
              <a:t>AI 发零花钱时推送财商故事</a:t>
            </a:r>
          </a:p>
          <a:p>
            <a:pPr algn="l">
              <a:spcBef>
                <a:spcPts val="300"/>
              </a:spcBef>
            </a:pPr>
            <a:r>
              <a:rPr sz="1400" b="0">
                <a:solidFill>
                  <a:srgbClr val="4D4D4D"/>
                </a:solidFill>
                <a:latin typeface="微软雅黑"/>
              </a:rPr>
              <a:t>月度宝贝成长报告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56032"/>
            <a:ext cx="36576" cy="566928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241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微软雅黑"/>
              </a:rPr>
              <a:t>产品方案  ·  差异化定位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41248"/>
            <a:ext cx="11338560" cy="16459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0" y="201168"/>
            <a:ext cx="1965960" cy="29260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201168"/>
            <a:ext cx="1965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软雅黑"/>
              </a:rPr>
              <a:t>产品方案  02/07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052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微软雅黑"/>
              </a:rPr>
              <a:t>06  / 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51052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微软雅黑"/>
              </a:rPr>
              <a:t>芽计  YaPlan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1207008"/>
          <a:ext cx="10158984" cy="3584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2743200"/>
                <a:gridCol w="1664208"/>
                <a:gridCol w="1664208"/>
                <a:gridCol w="1664208"/>
              </a:tblGrid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功能维度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芽计  YaPlan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挖财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支付宝财富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Greenlight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D4D4D"/>
                          </a:solidFill>
                          <a:latin typeface="微软雅黑"/>
                        </a:rPr>
                        <a:t>焦虑消费识别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2231A"/>
                          </a:solidFill>
                          <a:latin typeface="微软雅黑"/>
                        </a:rPr>
                        <a:t>✅  行业首创</a:t>
                      </a:r>
                    </a:p>
                  </a:txBody>
                  <a:tcPr>
                    <a:solidFill>
                      <a:srgbClr val="F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888888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888888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888888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D4D4D"/>
                          </a:solidFill>
                          <a:latin typeface="微软雅黑"/>
                        </a:rPr>
                        <a:t>保单 OCR 解读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2231A"/>
                          </a:solidFill>
                          <a:latin typeface="微软雅黑"/>
                        </a:rPr>
                        <a:t>✅  通俗解析</a:t>
                      </a:r>
                    </a:p>
                  </a:txBody>
                  <a:tcPr>
                    <a:solidFill>
                      <a:srgbClr val="F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888888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888888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888888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D4D4D"/>
                          </a:solidFill>
                          <a:latin typeface="微软雅黑"/>
                        </a:rPr>
                        <a:t>非销售导向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2231A"/>
                          </a:solidFill>
                          <a:latin typeface="微软雅黑"/>
                        </a:rPr>
                        <a:t>✅  无返佣</a:t>
                      </a:r>
                    </a:p>
                  </a:txBody>
                  <a:tcPr>
                    <a:solidFill>
                      <a:srgbClr val="F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888888"/>
                          </a:solidFill>
                          <a:latin typeface="微软雅黑"/>
                        </a:rPr>
                        <a:t>❌  有广告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888888"/>
                          </a:solidFill>
                          <a:latin typeface="微软雅黑"/>
                        </a:rPr>
                        <a:t>❌  有佣金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D9C65"/>
                          </a:solidFill>
                          <a:latin typeface="微软雅黑"/>
                        </a:rPr>
                        <a:t>✅  基础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D4D4D"/>
                          </a:solidFill>
                          <a:latin typeface="微软雅黑"/>
                        </a:rPr>
                        <a:t>教育金测算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2231A"/>
                          </a:solidFill>
                          <a:latin typeface="微软雅黑"/>
                        </a:rPr>
                        <a:t>✅  双情景</a:t>
                      </a:r>
                    </a:p>
                  </a:txBody>
                  <a:tcPr>
                    <a:solidFill>
                      <a:srgbClr val="F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D4D4D"/>
                          </a:solidFill>
                          <a:latin typeface="微软雅黑"/>
                        </a:rPr>
                        <a:t>弱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D4D4D"/>
                          </a:solidFill>
                          <a:latin typeface="微软雅黑"/>
                        </a:rPr>
                        <a:t>弱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888888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D4D4D"/>
                          </a:solidFill>
                          <a:latin typeface="微软雅黑"/>
                        </a:rPr>
                        <a:t>亲子财商教育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2231A"/>
                          </a:solidFill>
                          <a:latin typeface="微软雅黑"/>
                        </a:rPr>
                        <a:t>✅  三罐子+绘本</a:t>
                      </a:r>
                    </a:p>
                  </a:txBody>
                  <a:tcPr>
                    <a:solidFill>
                      <a:srgbClr val="F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888888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888888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D9C65"/>
                          </a:solidFill>
                          <a:latin typeface="微软雅黑"/>
                        </a:rPr>
                        <a:t>✅  基础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D4D4D"/>
                          </a:solidFill>
                          <a:latin typeface="微软雅黑"/>
                        </a:rPr>
                        <a:t>生活化比喻库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2231A"/>
                          </a:solidFill>
                          <a:latin typeface="微软雅黑"/>
                        </a:rPr>
                        <a:t>✅  内置系统</a:t>
                      </a:r>
                    </a:p>
                  </a:txBody>
                  <a:tcPr>
                    <a:solidFill>
                      <a:srgbClr val="F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888888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888888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888888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11480" y="5193792"/>
            <a:ext cx="11365992" cy="27432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5321808"/>
            <a:ext cx="3794760" cy="969264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" y="537667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/>
              </a:rPr>
              <a:t>🧠  焦虑识别引擎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" y="576072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微软雅黑"/>
              </a:rPr>
              <a:t>行业首创  ·  三层检测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34256" y="5321808"/>
            <a:ext cx="3794760" cy="969264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537667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/>
              </a:rPr>
              <a:t>📊  非销售导向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576072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微软雅黑"/>
              </a:rPr>
              <a:t>信任经济壁垒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57031" y="5321808"/>
            <a:ext cx="3794760" cy="969264"/>
          </a:xfrm>
          <a:prstGeom prst="rect">
            <a:avLst/>
          </a:prstGeom>
          <a:solidFill>
            <a:srgbClr val="2D9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8" y="537667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/>
              </a:rPr>
              <a:t>💬  金融语言翻译器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576072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微软雅黑"/>
              </a:rPr>
              <a:t>术语  →  生活比喻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56032"/>
            <a:ext cx="36576" cy="566928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241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微软雅黑"/>
              </a:rPr>
              <a:t>产品方案  ·  AI 能力运用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41248"/>
            <a:ext cx="11338560" cy="16459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0" y="201168"/>
            <a:ext cx="1965960" cy="29260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201168"/>
            <a:ext cx="1965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软雅黑"/>
              </a:rPr>
              <a:t>产品方案  03/07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052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微软雅黑"/>
              </a:rPr>
              <a:t>07  / 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51052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微软雅黑"/>
              </a:rPr>
              <a:t>芽计  YaPlan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207008"/>
            <a:ext cx="11365992" cy="3840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207008"/>
            <a:ext cx="36576" cy="384048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21615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微软雅黑"/>
              </a:rPr>
              <a:t>AI 双重角色：🏥 家庭财务医生（客观、专业、不卖东西）  ×  👩‍🎓 成长陪伴学姐（温暖、真实、懂孩子）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737360"/>
            <a:ext cx="5742432" cy="768096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1737360"/>
            <a:ext cx="36576" cy="768096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938528"/>
            <a:ext cx="347472" cy="34747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1938528"/>
            <a:ext cx="329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1810512"/>
            <a:ext cx="5074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微软雅黑"/>
              </a:rPr>
              <a:t>对话采集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139696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D4D4D"/>
                </a:solidFill>
                <a:latin typeface="微软雅黑"/>
              </a:rPr>
              <a:t>自然语言问答，采集家庭基本信息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" y="2505456"/>
            <a:ext cx="14630" cy="146304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2633472"/>
            <a:ext cx="5742432" cy="768096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2633472"/>
            <a:ext cx="36576" cy="768096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2834640"/>
            <a:ext cx="347472" cy="34747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" y="2834640"/>
            <a:ext cx="329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706624"/>
            <a:ext cx="5074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微软雅黑"/>
              </a:rPr>
              <a:t>需求挖掘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035808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D4D4D"/>
                </a:solidFill>
                <a:latin typeface="微软雅黑"/>
              </a:rPr>
              <a:t>识别显性需求与隐性焦虑来源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" y="3401568"/>
            <a:ext cx="14630" cy="146304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3529584"/>
            <a:ext cx="5742432" cy="768096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3529584"/>
            <a:ext cx="36576" cy="768096"/>
          </a:xfrm>
          <a:prstGeom prst="rect">
            <a:avLst/>
          </a:prstGeom>
          <a:solidFill>
            <a:srgbClr val="D4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3730752"/>
            <a:ext cx="347472" cy="347472"/>
          </a:xfrm>
          <a:prstGeom prst="rect">
            <a:avLst/>
          </a:prstGeom>
          <a:solidFill>
            <a:srgbClr val="D4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" y="3730752"/>
            <a:ext cx="329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3602736"/>
            <a:ext cx="5074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微软雅黑"/>
              </a:rPr>
              <a:t>方案生成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3931920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D4D4D"/>
                </a:solidFill>
                <a:latin typeface="微软雅黑"/>
              </a:rPr>
              <a:t>PMT 计算 + 双情景 + 生活化比喻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" y="4297680"/>
            <a:ext cx="14630" cy="146304"/>
          </a:xfrm>
          <a:prstGeom prst="rect">
            <a:avLst/>
          </a:prstGeom>
          <a:solidFill>
            <a:srgbClr val="D4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1480" y="4425696"/>
            <a:ext cx="5742432" cy="768096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11480" y="4425696"/>
            <a:ext cx="36576" cy="768096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920" y="4626864"/>
            <a:ext cx="347472" cy="347472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2064" y="4626864"/>
            <a:ext cx="329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4498848"/>
            <a:ext cx="5074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微软雅黑"/>
              </a:rPr>
              <a:t>焦虑检测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828032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D4D4D"/>
                </a:solidFill>
                <a:latin typeface="微软雅黑"/>
              </a:rPr>
              <a:t>行为信号 + NLP语义 + 综合评分三层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" y="5193792"/>
            <a:ext cx="14630" cy="146304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1480" y="5321808"/>
            <a:ext cx="5742432" cy="768096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1480" y="5321808"/>
            <a:ext cx="36576" cy="768096"/>
          </a:xfrm>
          <a:prstGeom prst="rect">
            <a:avLst/>
          </a:prstGeom>
          <a:solidFill>
            <a:srgbClr val="2D9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" y="5522976"/>
            <a:ext cx="347472" cy="347472"/>
          </a:xfrm>
          <a:prstGeom prst="rect">
            <a:avLst/>
          </a:prstGeom>
          <a:solidFill>
            <a:srgbClr val="2D9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2064" y="5522976"/>
            <a:ext cx="329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" y="5394960"/>
            <a:ext cx="5074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微软雅黑"/>
              </a:rPr>
              <a:t>动态复盘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" y="5724144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D4D4D"/>
                </a:solidFill>
                <a:latin typeface="微软雅黑"/>
              </a:rPr>
              <a:t>月度小报 + 季度报告 + 年度校准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91072" y="1737360"/>
            <a:ext cx="32004" cy="292608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82512" y="1746504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微软雅黑"/>
              </a:rPr>
              <a:t>多模态输入能力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91072" y="2039112"/>
            <a:ext cx="5669280" cy="1463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91072" y="2084831"/>
            <a:ext cx="1810512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91072" y="2084831"/>
            <a:ext cx="1810512" cy="25603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82512" y="215798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微软雅黑"/>
              </a:rPr>
              <a:t>📸  拍票据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82512" y="2542032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  <a:latin typeface="微软雅黑"/>
              </a:rPr>
              <a:t>OCR 自动归类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74736" y="2084831"/>
            <a:ext cx="1810512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174736" y="2084831"/>
            <a:ext cx="1810512" cy="25603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66175" y="215798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微软雅黑"/>
              </a:rPr>
              <a:t>🎙  语音记账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66175" y="2542032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  <a:latin typeface="微软雅黑"/>
              </a:rPr>
              <a:t>自然语言录入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058400" y="2084831"/>
            <a:ext cx="1810512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058400" y="2084831"/>
            <a:ext cx="1810512" cy="25603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149840" y="215798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微软雅黑"/>
              </a:rPr>
              <a:t>📄  截图保单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49840" y="2542032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  <a:latin typeface="微软雅黑"/>
              </a:rPr>
              <a:t>AI 提取条款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91072" y="3474720"/>
            <a:ext cx="32004" cy="292608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82512" y="3483863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微软雅黑"/>
              </a:rPr>
              <a:t>对话示例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291072" y="3776472"/>
            <a:ext cx="5669280" cy="1463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291072" y="3822191"/>
            <a:ext cx="5669280" cy="120700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91072" y="3822191"/>
            <a:ext cx="36576" cy="1207008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55664" y="3913632"/>
            <a:ext cx="539496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8254D"/>
                </a:solidFill>
                <a:latin typeface="微软雅黑"/>
              </a:rPr>
              <a:t>用户：「5 岁女儿，想出国，月入 3–5 万」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08254D"/>
                </a:solidFill>
                <a:latin typeface="微软雅黑"/>
              </a:rPr>
              <a:t>→  芽计：「目标 ¥120 万，月投 ¥4,900，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08254D"/>
                </a:solidFill>
                <a:latin typeface="微软雅黑"/>
              </a:rPr>
              <a:t>    相当于每天少一杯奶茶 + 咖啡 ☕」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291072" y="5175504"/>
            <a:ext cx="32004" cy="292608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382512" y="5184648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微软雅黑"/>
              </a:rPr>
              <a:t>焦虑检测三层引擎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291072" y="5477256"/>
            <a:ext cx="5669280" cy="1463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291072" y="5522976"/>
            <a:ext cx="5669280" cy="731520"/>
          </a:xfrm>
          <a:prstGeom prst="rect">
            <a:avLst/>
          </a:prstGeom>
          <a:solidFill>
            <a:srgbClr val="FF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291072" y="5522976"/>
            <a:ext cx="36576" cy="731520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55664" y="5614416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1A"/>
                </a:solidFill>
                <a:latin typeface="微软雅黑"/>
              </a:rPr>
              <a:t>Layer 1  行为信号  →  Layer 2  NLP语义情绪  →  Layer 3  综合风险评分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91072" y="640080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8888"/>
                </a:solidFill>
                <a:latin typeface="微软雅黑"/>
              </a:rPr>
              <a:t>底层：Claude API  ·  多模态 OCR  ·  规则引擎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56032"/>
            <a:ext cx="36576" cy="566928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241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微软雅黑"/>
              </a:rPr>
              <a:t>产品方案  ·  商业模式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41248"/>
            <a:ext cx="11338560" cy="16459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0" y="201168"/>
            <a:ext cx="1965960" cy="29260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201168"/>
            <a:ext cx="1965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软雅黑"/>
              </a:rPr>
              <a:t>产品方案  04/07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052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微软雅黑"/>
              </a:rPr>
              <a:t>08  / 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51052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微软雅黑"/>
              </a:rPr>
              <a:t>芽计  YaPlan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207008"/>
            <a:ext cx="3611880" cy="3931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207008"/>
            <a:ext cx="3611880" cy="512064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" y="1280160"/>
            <a:ext cx="3401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/>
              </a:rPr>
              <a:t>免费版  Free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496" y="1755648"/>
            <a:ext cx="3364992" cy="1463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" y="1847088"/>
            <a:ext cx="33101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D4D4D"/>
                </a:solidFill>
                <a:latin typeface="微软雅黑"/>
              </a:rPr>
              <a:t>✓  基础教育金测算（单情景）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2395728"/>
            <a:ext cx="33101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D4D4D"/>
                </a:solidFill>
                <a:latin typeface="微软雅黑"/>
              </a:rPr>
              <a:t>✓  AI 规划对话  3 次 / 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2944368"/>
            <a:ext cx="33101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D4D4D"/>
                </a:solidFill>
                <a:latin typeface="微软雅黑"/>
              </a:rPr>
              <a:t>✓  支出分类记录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493008"/>
            <a:ext cx="33101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D4D4D"/>
                </a:solidFill>
                <a:latin typeface="微软雅黑"/>
              </a:rPr>
              <a:t>✓  焦虑消费基础识别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1207008"/>
            <a:ext cx="3611880" cy="3931920"/>
          </a:xfrm>
          <a:prstGeom prst="rect">
            <a:avLst/>
          </a:prstGeom>
          <a:noFill/>
          <a:ln w="762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24528" y="1097280"/>
            <a:ext cx="3611880" cy="4160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24528" y="1097280"/>
            <a:ext cx="3611880" cy="512064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34256" y="1170432"/>
            <a:ext cx="3401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/>
              </a:rPr>
              <a:t>标准版  ¥99 / 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31152" y="1097280"/>
            <a:ext cx="905256" cy="292608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31152" y="1115568"/>
            <a:ext cx="905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</a:rPr>
              <a:t>推荐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52544" y="1645919"/>
            <a:ext cx="3364992" cy="1463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1737360"/>
            <a:ext cx="33101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D4D4D"/>
                </a:solidFill>
                <a:latin typeface="微软雅黑"/>
              </a:rPr>
              <a:t>✓  无限 AI 规划对话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2286000"/>
            <a:ext cx="33101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D4D4D"/>
                </a:solidFill>
                <a:latin typeface="微软雅黑"/>
              </a:rPr>
              <a:t>✓  焦虑消费深度识别 + 预警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2834639"/>
            <a:ext cx="33101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D4D4D"/>
                </a:solidFill>
                <a:latin typeface="微软雅黑"/>
              </a:rPr>
              <a:t>✓  保单 OCR 解读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3383279"/>
            <a:ext cx="33101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D4D4D"/>
                </a:solidFill>
                <a:latin typeface="微软雅黑"/>
              </a:rPr>
              <a:t>✓  月度亲子财务小报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3931920"/>
            <a:ext cx="33101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D4D4D"/>
                </a:solidFill>
                <a:latin typeface="微软雅黑"/>
              </a:rPr>
              <a:t>✓  兴趣班 ROI 热力表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24528" y="1097280"/>
            <a:ext cx="3611880" cy="4160520"/>
          </a:xfrm>
          <a:prstGeom prst="rect">
            <a:avLst/>
          </a:prstGeom>
          <a:noFill/>
          <a:ln w="7620">
            <a:solidFill>
              <a:srgbClr val="E223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28431" y="1207008"/>
            <a:ext cx="3611880" cy="3931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28431" y="1207008"/>
            <a:ext cx="3611880" cy="512064"/>
          </a:xfrm>
          <a:prstGeom prst="rect">
            <a:avLst/>
          </a:prstGeom>
          <a:solidFill>
            <a:srgbClr val="082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38159" y="1280160"/>
            <a:ext cx="3401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/>
              </a:rPr>
              <a:t>高级版  ¥199 / 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56448" y="1755648"/>
            <a:ext cx="3364992" cy="1463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93023" y="1847088"/>
            <a:ext cx="33101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D4D4D"/>
                </a:solidFill>
                <a:latin typeface="微软雅黑"/>
              </a:rPr>
              <a:t>✓  全部标准版功能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93023" y="2395728"/>
            <a:ext cx="33101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D4D4D"/>
                </a:solidFill>
                <a:latin typeface="微软雅黑"/>
              </a:rPr>
              <a:t>✓  专属 1v1 顾问服务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93023" y="2944368"/>
            <a:ext cx="33101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D4D4D"/>
                </a:solidFill>
                <a:latin typeface="微软雅黑"/>
              </a:rPr>
              <a:t>✓  家庭多账号管理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93023" y="3493008"/>
            <a:ext cx="33101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D4D4D"/>
                </a:solidFill>
                <a:latin typeface="微软雅黑"/>
              </a:rPr>
              <a:t>✓  年度财务体检报告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93023" y="4041648"/>
            <a:ext cx="33101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D4D4D"/>
                </a:solidFill>
                <a:latin typeface="微软雅黑"/>
              </a:rPr>
              <a:t>✓  优先体验新功能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28431" y="1207008"/>
            <a:ext cx="3611880" cy="3931920"/>
          </a:xfrm>
          <a:prstGeom prst="rect">
            <a:avLst/>
          </a:prstGeom>
          <a:noFill/>
          <a:ln w="7620">
            <a:solidFill>
              <a:srgbClr val="082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1480" y="5440680"/>
            <a:ext cx="11365992" cy="27432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4360" y="5596128"/>
            <a:ext cx="1828800" cy="621792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5641848"/>
            <a:ext cx="1828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</a:rPr>
              <a:t>免费体验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23160" y="569671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E2231A"/>
                </a:solidFill>
                <a:latin typeface="微软雅黑"/>
              </a:rPr>
              <a:t>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25496" y="5596128"/>
            <a:ext cx="1828800" cy="621792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825496" y="5641848"/>
            <a:ext cx="1828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</a:rPr>
              <a:t>价值验证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54296" y="569671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E2231A"/>
                </a:solidFill>
                <a:latin typeface="微软雅黑"/>
              </a:rPr>
              <a:t>→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56632" y="5596128"/>
            <a:ext cx="1828800" cy="621792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56632" y="5641848"/>
            <a:ext cx="1828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</a:rPr>
              <a:t>付费转化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85432" y="569671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E2231A"/>
                </a:solidFill>
                <a:latin typeface="微软雅黑"/>
              </a:rPr>
              <a:t>→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287768" y="5596128"/>
            <a:ext cx="1828800" cy="621792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287768" y="5641848"/>
            <a:ext cx="1828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</a:rPr>
              <a:t>口碑传播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16568" y="569671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E2231A"/>
                </a:solidFill>
                <a:latin typeface="微软雅黑"/>
              </a:rPr>
              <a:t>→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518904" y="5596128"/>
            <a:ext cx="1828800" cy="621792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18904" y="5641848"/>
            <a:ext cx="1828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</a:rPr>
              <a:t>更多用户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1480" y="6364224"/>
            <a:ext cx="11365992" cy="347472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94360" y="640080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D4D4D"/>
                </a:solidFill>
                <a:latin typeface="微软雅黑"/>
              </a:rPr>
              <a:t>3年路径：免费用户 100 万  →  付费转化 10%  →  标准版 ARR ¥9,900 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56032"/>
            <a:ext cx="36576" cy="566928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241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微软雅黑"/>
              </a:rPr>
              <a:t>产品原型  ·  五大核心界面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41248"/>
            <a:ext cx="11338560" cy="16459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0" y="201168"/>
            <a:ext cx="1965960" cy="29260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201168"/>
            <a:ext cx="1965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软雅黑"/>
              </a:rPr>
              <a:t>产品方案  05/07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052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微软雅黑"/>
              </a:rPr>
              <a:t>09  / 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51052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微软雅黑"/>
              </a:rPr>
              <a:t>芽计  YaPlan</a:t>
            </a:r>
          </a:p>
        </p:txBody>
      </p:sp>
      <p:pic>
        <p:nvPicPr>
          <p:cNvPr id="9" name="Picture 8" descr="screenshot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7726679" cy="427939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321040" y="1234440"/>
            <a:ext cx="14630" cy="4279392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394192" y="1280160"/>
            <a:ext cx="36576" cy="73152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129844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A87"/>
                </a:solidFill>
                <a:latin typeface="微软雅黑"/>
              </a:rPr>
              <a:t>🏠  首页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1591056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4D4D4D"/>
                </a:solidFill>
                <a:latin typeface="微软雅黑"/>
              </a:rPr>
              <a:t>教育金健康度实时预警</a:t>
            </a:r>
          </a:p>
          <a:p>
            <a:pPr algn="l">
              <a:spcBef>
                <a:spcPts val="200"/>
              </a:spcBef>
            </a:pPr>
            <a:r>
              <a:rPr sz="1250" b="0">
                <a:solidFill>
                  <a:srgbClr val="4D4D4D"/>
                </a:solidFill>
                <a:latin typeface="微软雅黑"/>
              </a:rPr>
              <a:t>焦虑消费占比红色标注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94192" y="2084831"/>
            <a:ext cx="3657600" cy="1463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94192" y="2157984"/>
            <a:ext cx="36576" cy="731520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217627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2231A"/>
                </a:solidFill>
                <a:latin typeface="微软雅黑"/>
              </a:rPr>
              <a:t>📋  规划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468879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4D4D4D"/>
                </a:solidFill>
                <a:latin typeface="微软雅黑"/>
              </a:rPr>
              <a:t>双情景教育金测算</a:t>
            </a:r>
          </a:p>
          <a:p>
            <a:pPr algn="l">
              <a:spcBef>
                <a:spcPts val="200"/>
              </a:spcBef>
            </a:pPr>
            <a:r>
              <a:rPr sz="1250" b="0">
                <a:solidFill>
                  <a:srgbClr val="4D4D4D"/>
                </a:solidFill>
                <a:latin typeface="微软雅黑"/>
              </a:rPr>
              <a:t>保单 OCR 一键解读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94192" y="2962656"/>
            <a:ext cx="3657600" cy="1463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94192" y="3035808"/>
            <a:ext cx="36576" cy="731520"/>
          </a:xfrm>
          <a:prstGeom prst="rect">
            <a:avLst/>
          </a:prstGeom>
          <a:solidFill>
            <a:srgbClr val="D4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305409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8B00"/>
                </a:solidFill>
                <a:latin typeface="微软雅黑"/>
              </a:rPr>
              <a:t>💳  账单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346703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4D4D4D"/>
                </a:solidFill>
                <a:latin typeface="微软雅黑"/>
              </a:rPr>
              <a:t>五色饼图支出分析</a:t>
            </a:r>
          </a:p>
          <a:p>
            <a:pPr algn="l">
              <a:spcBef>
                <a:spcPts val="200"/>
              </a:spcBef>
            </a:pPr>
            <a:r>
              <a:rPr sz="1250" b="0">
                <a:solidFill>
                  <a:srgbClr val="4D4D4D"/>
                </a:solidFill>
                <a:latin typeface="微软雅黑"/>
              </a:rPr>
              <a:t>焦虑消费双预警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94192" y="3840480"/>
            <a:ext cx="3657600" cy="1463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94192" y="3913631"/>
            <a:ext cx="36576" cy="73152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0" y="3931919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A87"/>
                </a:solidFill>
                <a:latin typeface="微软雅黑"/>
              </a:rPr>
              <a:t>🤖 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4224527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4D4D4D"/>
                </a:solidFill>
                <a:latin typeface="微软雅黑"/>
              </a:rPr>
              <a:t>7 轮对话生成规划报告</a:t>
            </a:r>
          </a:p>
          <a:p>
            <a:pPr algn="l">
              <a:spcBef>
                <a:spcPts val="200"/>
              </a:spcBef>
            </a:pPr>
            <a:r>
              <a:rPr sz="1250" b="0">
                <a:solidFill>
                  <a:srgbClr val="4D4D4D"/>
                </a:solidFill>
                <a:latin typeface="微软雅黑"/>
              </a:rPr>
              <a:t>生活化比喻实时输出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94192" y="4718303"/>
            <a:ext cx="3657600" cy="1463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94192" y="4791456"/>
            <a:ext cx="36576" cy="731520"/>
          </a:xfrm>
          <a:prstGeom prst="rect">
            <a:avLst/>
          </a:prstGeom>
          <a:solidFill>
            <a:srgbClr val="2D9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0" y="480974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9C65"/>
                </a:solidFill>
                <a:latin typeface="微软雅黑"/>
              </a:rPr>
              <a:t>💰  财商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5102352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4D4D4D"/>
                </a:solidFill>
                <a:latin typeface="微软雅黑"/>
              </a:rPr>
              <a:t>三罐子零花钱管理</a:t>
            </a:r>
          </a:p>
          <a:p>
            <a:pPr algn="l">
              <a:spcBef>
                <a:spcPts val="200"/>
              </a:spcBef>
            </a:pPr>
            <a:r>
              <a:rPr sz="1250" b="0">
                <a:solidFill>
                  <a:srgbClr val="4D4D4D"/>
                </a:solidFill>
                <a:latin typeface="微软雅黑"/>
              </a:rPr>
              <a:t>劳动奖励任务清单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56032"/>
            <a:ext cx="36576" cy="566928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241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微软雅黑"/>
              </a:rPr>
              <a:t>产品原型  ·  AI 对话流程  &amp;  保险配置决策树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41248"/>
            <a:ext cx="11338560" cy="16459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0" y="201168"/>
            <a:ext cx="1965960" cy="29260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201168"/>
            <a:ext cx="1965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软雅黑"/>
              </a:rPr>
              <a:t>产品方案  06/07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052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微软雅黑"/>
              </a:rPr>
              <a:t>10  / 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51052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微软雅黑"/>
              </a:rPr>
              <a:t>芽计  YaPlan</a:t>
            </a:r>
          </a:p>
        </p:txBody>
      </p:sp>
      <p:sp>
        <p:nvSpPr>
          <p:cNvPr id="9" name="Rectangle 8"/>
          <p:cNvSpPr/>
          <p:nvPr/>
        </p:nvSpPr>
        <p:spPr>
          <a:xfrm>
            <a:off x="6053328" y="1207008"/>
            <a:ext cx="14630" cy="5358384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207008"/>
            <a:ext cx="32004" cy="292608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16152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微软雅黑"/>
              </a:rPr>
              <a:t>AI 入户对话流程图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508760"/>
            <a:ext cx="5486400" cy="1463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creensho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00200"/>
            <a:ext cx="5449824" cy="4489704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217920" y="1207008"/>
            <a:ext cx="32004" cy="292608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59" y="1216152"/>
            <a:ext cx="5422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微软雅黑"/>
              </a:rPr>
              <a:t>保险配置决策树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508760"/>
            <a:ext cx="5559552" cy="1463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creenshot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00200"/>
            <a:ext cx="5449824" cy="448970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56032"/>
            <a:ext cx="36576" cy="566928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241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微软雅黑"/>
              </a:rPr>
              <a:t>产品原型  ·  功能架构  &amp;  财商教育模块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41248"/>
            <a:ext cx="11338560" cy="16459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0" y="201168"/>
            <a:ext cx="1965960" cy="29260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201168"/>
            <a:ext cx="1965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软雅黑"/>
              </a:rPr>
              <a:t>产品方案  07/07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052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微软雅黑"/>
              </a:rPr>
              <a:t>11  / 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51052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微软雅黑"/>
              </a:rPr>
              <a:t>芽计  YaPlan</a:t>
            </a:r>
          </a:p>
        </p:txBody>
      </p:sp>
      <p:sp>
        <p:nvSpPr>
          <p:cNvPr id="9" name="Rectangle 8"/>
          <p:cNvSpPr/>
          <p:nvPr/>
        </p:nvSpPr>
        <p:spPr>
          <a:xfrm>
            <a:off x="6053328" y="1207008"/>
            <a:ext cx="14630" cy="5358384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207008"/>
            <a:ext cx="32004" cy="292608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16152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微软雅黑"/>
              </a:rPr>
              <a:t>功能思维导图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508760"/>
            <a:ext cx="5486400" cy="1463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creenshot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00200"/>
            <a:ext cx="5449824" cy="315468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11480" y="4773168"/>
            <a:ext cx="32004" cy="292608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782312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微软雅黑"/>
              </a:rPr>
              <a:t>系统技术架构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5074920"/>
            <a:ext cx="5486400" cy="1463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creenshot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956048"/>
            <a:ext cx="5449824" cy="1645919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6217920" y="1207008"/>
            <a:ext cx="5559552" cy="1682496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207008"/>
            <a:ext cx="5559552" cy="29260"/>
          </a:xfrm>
          <a:prstGeom prst="rect">
            <a:avLst/>
          </a:prstGeom>
          <a:solidFill>
            <a:srgbClr val="D4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1298448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微软雅黑"/>
              </a:rPr>
              <a:t>🫙  三罐子零花钱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45936" y="1627632"/>
            <a:ext cx="5321808" cy="1463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1682496"/>
            <a:ext cx="530352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D4D4D"/>
                </a:solidFill>
                <a:latin typeface="微软雅黑"/>
              </a:rPr>
              <a:t>自由支配罐  6 成</a:t>
            </a:r>
          </a:p>
          <a:p>
            <a:pPr algn="l">
              <a:spcBef>
                <a:spcPts val="300"/>
              </a:spcBef>
            </a:pPr>
            <a:r>
              <a:rPr sz="1350" b="0">
                <a:solidFill>
                  <a:srgbClr val="4D4D4D"/>
                </a:solidFill>
                <a:latin typeface="微软雅黑"/>
              </a:rPr>
              <a:t>储蓄罐  3 成</a:t>
            </a:r>
          </a:p>
          <a:p>
            <a:pPr algn="l">
              <a:spcBef>
                <a:spcPts val="300"/>
              </a:spcBef>
            </a:pPr>
            <a:r>
              <a:rPr sz="1350" b="0">
                <a:solidFill>
                  <a:srgbClr val="4D4D4D"/>
                </a:solidFill>
                <a:latin typeface="微软雅黑"/>
              </a:rPr>
              <a:t>分享罐  1 成</a:t>
            </a:r>
          </a:p>
          <a:p>
            <a:pPr algn="l">
              <a:spcBef>
                <a:spcPts val="300"/>
              </a:spcBef>
            </a:pPr>
            <a:r>
              <a:rPr sz="1350" b="0">
                <a:solidFill>
                  <a:srgbClr val="4D4D4D"/>
                </a:solidFill>
                <a:latin typeface="微软雅黑"/>
              </a:rPr>
              <a:t>AI 给出比例参考建议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008376"/>
            <a:ext cx="5559552" cy="1682496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3008376"/>
            <a:ext cx="5559552" cy="29260"/>
          </a:xfrm>
          <a:prstGeom prst="rect">
            <a:avLst/>
          </a:prstGeom>
          <a:solidFill>
            <a:srgbClr val="2D9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82512" y="3099816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微软雅黑"/>
              </a:rPr>
              <a:t>✅  劳动奖励机制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45936" y="3429000"/>
            <a:ext cx="5321808" cy="1463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82512" y="3483864"/>
            <a:ext cx="530352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D4D4D"/>
                </a:solidFill>
                <a:latin typeface="微软雅黑"/>
              </a:rPr>
              <a:t>义务家务不计薪（培养责任感）</a:t>
            </a:r>
          </a:p>
          <a:p>
            <a:pPr algn="l">
              <a:spcBef>
                <a:spcPts val="300"/>
              </a:spcBef>
            </a:pPr>
            <a:r>
              <a:rPr sz="1350" b="0">
                <a:solidFill>
                  <a:srgbClr val="4D4D4D"/>
                </a:solidFill>
                <a:latin typeface="微软雅黑"/>
              </a:rPr>
              <a:t>额外任务有报酬</a:t>
            </a:r>
          </a:p>
          <a:p>
            <a:pPr algn="l">
              <a:spcBef>
                <a:spcPts val="300"/>
              </a:spcBef>
            </a:pPr>
            <a:r>
              <a:rPr sz="1350" b="0">
                <a:solidFill>
                  <a:srgbClr val="4D4D4D"/>
                </a:solidFill>
                <a:latin typeface="微软雅黑"/>
              </a:rPr>
              <a:t>财商绘本讲给 AI 听  +¥10</a:t>
            </a:r>
          </a:p>
          <a:p>
            <a:pPr algn="l">
              <a:spcBef>
                <a:spcPts val="300"/>
              </a:spcBef>
            </a:pPr>
            <a:r>
              <a:rPr sz="1350" b="0">
                <a:solidFill>
                  <a:srgbClr val="4D4D4D"/>
                </a:solidFill>
                <a:latin typeface="微软雅黑"/>
              </a:rPr>
              <a:t>月度任务清单可视化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4809744"/>
            <a:ext cx="5559552" cy="1682496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4809744"/>
            <a:ext cx="5559552" cy="2926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82512" y="4901183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微软雅黑"/>
              </a:rPr>
              <a:t>🤖  AI 财商学姐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45936" y="5230368"/>
            <a:ext cx="5321808" cy="1463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82512" y="5285231"/>
            <a:ext cx="530352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D4D4D"/>
                </a:solidFill>
                <a:latin typeface="微软雅黑"/>
              </a:rPr>
              <a:t>发零花钱时推送财商故事</a:t>
            </a:r>
          </a:p>
          <a:p>
            <a:pPr algn="l">
              <a:spcBef>
                <a:spcPts val="300"/>
              </a:spcBef>
            </a:pPr>
            <a:r>
              <a:rPr sz="1350" b="0">
                <a:solidFill>
                  <a:srgbClr val="4D4D4D"/>
                </a:solidFill>
                <a:latin typeface="微软雅黑"/>
              </a:rPr>
              <a:t>月度宝贝成长报告</a:t>
            </a:r>
          </a:p>
          <a:p>
            <a:pPr algn="l">
              <a:spcBef>
                <a:spcPts val="300"/>
              </a:spcBef>
            </a:pPr>
            <a:r>
              <a:rPr sz="1350" b="0">
                <a:solidFill>
                  <a:srgbClr val="4D4D4D"/>
                </a:solidFill>
                <a:latin typeface="微软雅黑"/>
              </a:rPr>
              <a:t>18 岁前完成基础财商体系</a:t>
            </a:r>
          </a:p>
          <a:p>
            <a:pPr algn="l">
              <a:spcBef>
                <a:spcPts val="300"/>
              </a:spcBef>
            </a:pPr>
            <a:r>
              <a:rPr sz="1350" b="0">
                <a:solidFill>
                  <a:srgbClr val="4D4D4D"/>
                </a:solidFill>
                <a:latin typeface="微软雅黑"/>
              </a:rPr>
              <a:t>亲子共同参与激励机制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56032"/>
            <a:ext cx="36576" cy="566928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241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微软雅黑"/>
              </a:rPr>
              <a:t>关键问题思考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41248"/>
            <a:ext cx="11338560" cy="16459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651052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微软雅黑"/>
              </a:rPr>
              <a:t>12  /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651052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微软雅黑"/>
              </a:rPr>
              <a:t>芽计  YaPlan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9875520" y="201168"/>
            <a:ext cx="2148840" cy="27432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875520" y="292608"/>
            <a:ext cx="2148840" cy="27432"/>
          </a:xfrm>
          <a:prstGeom prst="rect">
            <a:avLst/>
          </a:prstGeom>
          <a:solidFill>
            <a:srgbClr val="E74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875520" y="384048"/>
            <a:ext cx="2148840" cy="27432"/>
          </a:xfrm>
          <a:prstGeom prst="rect">
            <a:avLst/>
          </a:prstGeom>
          <a:solidFill>
            <a:srgbClr val="EC7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875520" y="475488"/>
            <a:ext cx="2148840" cy="27432"/>
          </a:xfrm>
          <a:prstGeom prst="rect">
            <a:avLst/>
          </a:prstGeom>
          <a:solidFill>
            <a:srgbClr val="F1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875520" y="566928"/>
            <a:ext cx="2148840" cy="27432"/>
          </a:xfrm>
          <a:prstGeom prst="rect">
            <a:avLst/>
          </a:prstGeom>
          <a:solidFill>
            <a:srgbClr val="F6C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875520" y="658368"/>
            <a:ext cx="2148840" cy="27432"/>
          </a:xfrm>
          <a:prstGeom prst="rect">
            <a:avLst/>
          </a:prstGeom>
          <a:solidFill>
            <a:srgbClr val="FC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1234440"/>
            <a:ext cx="11365992" cy="1572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1234440"/>
            <a:ext cx="11365992" cy="25603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1260043"/>
            <a:ext cx="36576" cy="1545336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490472"/>
            <a:ext cx="804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300" b="1" i="0">
                <a:solidFill>
                  <a:srgbClr val="E2231A"/>
                </a:solidFill>
                <a:latin typeface="微软雅黑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1344168"/>
            <a:ext cx="98023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微软雅黑"/>
              </a:rPr>
              <a:t>数据隐私边界：如何在本地加密与云端 AI 之间取得平衡？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63040" y="1764792"/>
            <a:ext cx="9802368" cy="1463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1837944"/>
            <a:ext cx="9802368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D4D4D"/>
                </a:solidFill>
                <a:latin typeface="微软雅黑"/>
              </a:rPr>
              <a:t>家庭财务数据极度敏感。芽计答案：核心数据端侧 AES-256 加密，AI 仅接触脱敏摘要，用户可随时断开云同步，数据主权完整保留。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2926080"/>
            <a:ext cx="11365992" cy="1572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2926080"/>
            <a:ext cx="11365992" cy="25603"/>
          </a:xfrm>
          <a:prstGeom prst="rect">
            <a:avLst/>
          </a:prstGeom>
          <a:solidFill>
            <a:srgbClr val="D4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2951683"/>
            <a:ext cx="36576" cy="1545336"/>
          </a:xfrm>
          <a:prstGeom prst="rect">
            <a:avLst/>
          </a:prstGeom>
          <a:solidFill>
            <a:srgbClr val="D4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182112"/>
            <a:ext cx="804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300" b="1" i="0">
                <a:solidFill>
                  <a:srgbClr val="D48B00"/>
                </a:solidFill>
                <a:latin typeface="微软雅黑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3035808"/>
            <a:ext cx="98023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微软雅黑"/>
              </a:rPr>
              <a:t>AI 建议的监管合规：财务建议是否构成「投资顾问」？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63040" y="3456432"/>
            <a:ext cx="9802368" cy="1463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63040" y="3529584"/>
            <a:ext cx="9802368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D4D4D"/>
                </a:solidFill>
                <a:latin typeface="微软雅黑"/>
              </a:rPr>
              <a:t>中国监管对投资建议有严格界定。芽计定位为「决策辅助工具」而非投资顾问，核心输出均为信息参考，内容经合规审查，不提供具体标的推荐。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617720"/>
            <a:ext cx="11365992" cy="1572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" y="4617720"/>
            <a:ext cx="11365992" cy="25603"/>
          </a:xfrm>
          <a:prstGeom prst="rect">
            <a:avLst/>
          </a:prstGeom>
          <a:solidFill>
            <a:srgbClr val="2D9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4643323"/>
            <a:ext cx="36576" cy="1545336"/>
          </a:xfrm>
          <a:prstGeom prst="rect">
            <a:avLst/>
          </a:prstGeom>
          <a:solidFill>
            <a:srgbClr val="2D9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873752"/>
            <a:ext cx="804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300" b="1" i="0">
                <a:solidFill>
                  <a:srgbClr val="2D9C65"/>
                </a:solidFill>
                <a:latin typeface="微软雅黑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4727448"/>
            <a:ext cx="98023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微软雅黑"/>
              </a:rPr>
              <a:t>如何避免成为新的焦虑制造者？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63040" y="5148072"/>
            <a:ext cx="9802368" cy="1463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63040" y="5221224"/>
            <a:ext cx="9802368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D4D4D"/>
                </a:solidFill>
                <a:latin typeface="微软雅黑"/>
              </a:rPr>
              <a:t>产品第一原则——先帮家长说「不」，再说「怎么做」。月度小报的第一行永远是：「本月您帮孩子节省了 ¥X 焦虑消费」。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6355080"/>
            <a:ext cx="11365992" cy="3840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1480" y="6355080"/>
            <a:ext cx="36576" cy="384048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6373368"/>
            <a:ext cx="11109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/>
              </a:rPr>
              <a:t>"我们相信，最好的财务顾问不是推销产品，而是帮你想清楚。"  —  芽计  YaPlan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